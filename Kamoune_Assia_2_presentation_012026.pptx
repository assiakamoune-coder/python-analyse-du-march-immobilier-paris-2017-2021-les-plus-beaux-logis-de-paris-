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7" r:id="rId2"/>
    <p:sldId id="258" r:id="rId3"/>
    <p:sldId id="263" r:id="rId4"/>
    <p:sldId id="268" r:id="rId5"/>
    <p:sldId id="264" r:id="rId6"/>
    <p:sldId id="259" r:id="rId7"/>
    <p:sldId id="265" r:id="rId8"/>
    <p:sldId id="260" r:id="rId9"/>
    <p:sldId id="267" r:id="rId10"/>
    <p:sldId id="266" r:id="rId11"/>
    <p:sldId id="269" r:id="rId12"/>
  </p:sldIdLst>
  <p:sldSz cx="9144000" cy="5143500" type="screen16x9"/>
  <p:notesSz cx="6858000" cy="9144000"/>
  <p:embeddedFontLst>
    <p:embeddedFont>
      <p:font typeface="Montserrat" panose="00000500000000000000" pitchFamily="2" charset="0"/>
      <p:regular r:id="rId14"/>
      <p:bold r:id="rId15"/>
      <p:italic r:id="rId16"/>
      <p:boldItalic r:id="rId17"/>
    </p:embeddedFont>
    <p:embeddedFont>
      <p:font typeface="Trebuchet MS" panose="020B0603020202020204" pitchFamily="34" charset="0"/>
      <p:regular r:id="rId18"/>
      <p:bold r:id="rId19"/>
      <p:italic r:id="rId20"/>
      <p:boldItalic r:id="rId21"/>
    </p:embeddedFont>
    <p:embeddedFont>
      <p:font typeface="Wingdings 3" panose="05040102010807070707" pitchFamily="18" charset="2"/>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98" y="6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36251e9b6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dirty="0"/>
          </a:p>
        </p:txBody>
      </p:sp>
      <p:sp>
        <p:nvSpPr>
          <p:cNvPr id="89" name="Google Shape;89;g136251e9b6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6251e9b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dirty="0"/>
          </a:p>
        </p:txBody>
      </p:sp>
      <p:sp>
        <p:nvSpPr>
          <p:cNvPr id="96" name="Google Shape;96;g136251e9b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36251e9b62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08" name="Google Shape;108;g136251e9b6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26756316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9799103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fr-FR"/>
              <a:t>Modifiez le style du titre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796027F-7875-4030-9381-8BD8C4F21935}"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1103475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48587482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2476890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84283903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5756079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fr-FR"/>
              <a:t>Modifiez le style du titre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10018930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fr-FR"/>
              <a:t>Modifiez le style du titre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3166001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fr-FR"/>
              <a:t>Modifiez le style du titre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AAD347D-5ACD-4C99-B74B-A9C85AD731AF}"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5978735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fr-FR"/>
              <a:t>Modifiez le style du titre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AAD347D-5ACD-4C99-B74B-A9C85AD731AF}"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5927822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fr-FR"/>
              <a:t>Modifiez le style du titre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77653414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fr-FR"/>
              <a:t>Modifiez le style du titre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AAD347D-5ACD-4C99-B74B-A9C85AD731AF}"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822503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fr-FR"/>
              <a:t>Modifiez le style du titre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AAD347D-5ACD-4C99-B74B-A9C85AD731AF}"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4119683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44209251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15446171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205637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4AAD347D-5ACD-4C99-B74B-A9C85AD731AF}" type="datetimeFigureOut">
              <a:rPr lang="en-US" smtClean="0"/>
              <a:t>2/7/2026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22653818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subTitle" idx="1"/>
          </p:nvPr>
        </p:nvSpPr>
        <p:spPr>
          <a:xfrm>
            <a:off x="757238" y="2112139"/>
            <a:ext cx="6629400" cy="2174113"/>
          </a:xfrm>
          <a:prstGeom prst="rect">
            <a:avLst/>
          </a:prstGeom>
        </p:spPr>
        <p:txBody>
          <a:bodyPr spcFirstLastPara="1" wrap="square" lIns="91425" tIns="91425" rIns="91425" bIns="91425" anchor="t" anchorCtr="0">
            <a:noAutofit/>
          </a:bodyPr>
          <a:lstStyle/>
          <a:p>
            <a:pPr marL="0" lvl="0" indent="0" algn="ctr" rtl="0">
              <a:lnSpc>
                <a:spcPct val="90000"/>
              </a:lnSpc>
              <a:spcBef>
                <a:spcPts val="1000"/>
              </a:spcBef>
              <a:spcAft>
                <a:spcPts val="0"/>
              </a:spcAft>
              <a:buClr>
                <a:schemeClr val="dk1"/>
              </a:buClr>
              <a:buSzPct val="50000"/>
              <a:buFont typeface="Arial"/>
              <a:buNone/>
            </a:pPr>
            <a:r>
              <a:rPr lang="fr-FR" sz="2000" b="1" dirty="0">
                <a:solidFill>
                  <a:schemeClr val="accent2"/>
                </a:solidFill>
                <a:latin typeface="Montserrat" panose="00000500000000000000" pitchFamily="2" charset="0"/>
                <a:ea typeface="Montserrat"/>
                <a:cs typeface="Montserrat"/>
                <a:sym typeface="Montserrat"/>
              </a:rPr>
              <a:t>Réalisez une analyse de données en Python</a:t>
            </a:r>
            <a:r>
              <a:rPr lang="fr" sz="2000" b="1" dirty="0">
                <a:solidFill>
                  <a:schemeClr val="accent2"/>
                </a:solidFill>
                <a:latin typeface="Montserrat" panose="00000500000000000000" pitchFamily="2" charset="0"/>
                <a:ea typeface="Montserrat"/>
                <a:cs typeface="Montserrat"/>
                <a:sym typeface="Montserrat"/>
              </a:rPr>
              <a:t> </a:t>
            </a:r>
            <a:endParaRPr sz="2000" b="1" dirty="0">
              <a:solidFill>
                <a:schemeClr val="accent2"/>
              </a:solidFill>
              <a:latin typeface="Montserrat" panose="00000500000000000000" pitchFamily="2" charset="0"/>
              <a:ea typeface="Montserrat"/>
              <a:cs typeface="Montserrat"/>
              <a:sym typeface="Montserrat"/>
            </a:endParaRPr>
          </a:p>
          <a:p>
            <a:pPr marL="0" lvl="0" indent="0" algn="ctr" rtl="0">
              <a:lnSpc>
                <a:spcPct val="90000"/>
              </a:lnSpc>
              <a:spcBef>
                <a:spcPts val="1000"/>
              </a:spcBef>
              <a:spcAft>
                <a:spcPts val="0"/>
              </a:spcAft>
              <a:buClr>
                <a:schemeClr val="dk1"/>
              </a:buClr>
              <a:buSzPct val="50000"/>
              <a:buFont typeface="Arial"/>
              <a:buNone/>
            </a:pPr>
            <a:endParaRPr lang="fr-FR" sz="2000" b="1" dirty="0">
              <a:solidFill>
                <a:schemeClr val="dk1"/>
              </a:solidFill>
              <a:latin typeface="Montserrat" panose="00000500000000000000" pitchFamily="2" charset="0"/>
              <a:ea typeface="Montserrat"/>
              <a:cs typeface="Montserrat"/>
              <a:sym typeface="Montserrat"/>
            </a:endParaRPr>
          </a:p>
          <a:p>
            <a:pPr marL="0" lvl="0" indent="0" algn="ctr" rtl="0">
              <a:lnSpc>
                <a:spcPct val="90000"/>
              </a:lnSpc>
              <a:spcBef>
                <a:spcPts val="1000"/>
              </a:spcBef>
              <a:spcAft>
                <a:spcPts val="0"/>
              </a:spcAft>
              <a:buClr>
                <a:schemeClr val="dk1"/>
              </a:buClr>
              <a:buSzPct val="50000"/>
              <a:buFont typeface="Arial"/>
              <a:buNone/>
            </a:pPr>
            <a:r>
              <a:rPr lang="fr-FR" sz="2000" b="1" dirty="0">
                <a:solidFill>
                  <a:schemeClr val="dk1"/>
                </a:solidFill>
                <a:latin typeface="Montserrat" panose="00000500000000000000" pitchFamily="2" charset="0"/>
                <a:ea typeface="Montserrat"/>
                <a:cs typeface="Montserrat"/>
                <a:sym typeface="Montserrat"/>
              </a:rPr>
              <a:t>KAMOUNE Assia </a:t>
            </a:r>
          </a:p>
          <a:p>
            <a:pPr marL="0" lvl="0" indent="0" algn="ctr" rtl="0">
              <a:lnSpc>
                <a:spcPct val="90000"/>
              </a:lnSpc>
              <a:spcBef>
                <a:spcPts val="1000"/>
              </a:spcBef>
              <a:spcAft>
                <a:spcPts val="0"/>
              </a:spcAft>
              <a:buClr>
                <a:schemeClr val="dk1"/>
              </a:buClr>
              <a:buSzPct val="50000"/>
              <a:buFont typeface="Arial"/>
              <a:buNone/>
            </a:pPr>
            <a:r>
              <a:rPr lang="fr-FR" sz="2000" b="1" dirty="0">
                <a:solidFill>
                  <a:schemeClr val="dk1"/>
                </a:solidFill>
                <a:latin typeface="Montserrat" panose="00000500000000000000" pitchFamily="2" charset="0"/>
                <a:ea typeface="Montserrat"/>
                <a:cs typeface="Montserrat"/>
                <a:sym typeface="Montserrat"/>
              </a:rPr>
              <a:t>26/01/2026</a:t>
            </a:r>
            <a:endParaRPr sz="2000" b="1" dirty="0">
              <a:solidFill>
                <a:schemeClr val="dk1"/>
              </a:solidFill>
              <a:latin typeface="Montserrat" panose="00000500000000000000" pitchFamily="2" charset="0"/>
              <a:ea typeface="Montserrat"/>
              <a:cs typeface="Montserrat"/>
              <a:sym typeface="Montserrat"/>
            </a:endParaRPr>
          </a:p>
          <a:p>
            <a:pPr marL="0" lvl="0" indent="0" algn="ctr" rtl="0">
              <a:spcBef>
                <a:spcPts val="0"/>
              </a:spcBef>
              <a:spcAft>
                <a:spcPts val="0"/>
              </a:spcAft>
              <a:buNone/>
            </a:pPr>
            <a:endParaRPr sz="2000" b="1" dirty="0">
              <a:latin typeface="Montserrat" panose="00000500000000000000" pitchFamily="2" charset="0"/>
            </a:endParaRPr>
          </a:p>
        </p:txBody>
      </p:sp>
      <p:pic>
        <p:nvPicPr>
          <p:cNvPr id="92" name="Google Shape;92;p14"/>
          <p:cNvPicPr preferRelativeResize="0"/>
          <p:nvPr/>
        </p:nvPicPr>
        <p:blipFill>
          <a:blip r:embed="rId3">
            <a:alphaModFix/>
          </a:blip>
          <a:stretch>
            <a:fillRect/>
          </a:stretch>
        </p:blipFill>
        <p:spPr>
          <a:xfrm>
            <a:off x="1264445" y="0"/>
            <a:ext cx="5236369" cy="164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221457" y="605575"/>
            <a:ext cx="7258049" cy="535200"/>
          </a:xfrm>
          <a:prstGeom prst="rect">
            <a:avLst/>
          </a:prstGeom>
        </p:spPr>
        <p:txBody>
          <a:bodyPr spcFirstLastPara="1" wrap="square" lIns="91425" tIns="91425" rIns="91425" bIns="91425" anchor="t" anchorCtr="0">
            <a:noAutofit/>
          </a:bodyPr>
          <a:lstStyle/>
          <a:p>
            <a:pPr marL="457200" lvl="0" indent="-415290">
              <a:buSzPts val="2940"/>
              <a:buFont typeface="Montserrat"/>
              <a:buAutoNum type="romanUcPeriod"/>
            </a:pPr>
            <a:r>
              <a:rPr lang="fr-FR" sz="2000" b="1" dirty="0">
                <a:solidFill>
                  <a:schemeClr val="accent2"/>
                </a:solidFill>
                <a:latin typeface="Montserrat" panose="00000500000000000000" pitchFamily="2" charset="0"/>
              </a:rPr>
              <a:t>Analyse du marché immobilier parisien (2017–2021)</a:t>
            </a:r>
            <a:endParaRPr sz="2000" b="1" dirty="0">
              <a:solidFill>
                <a:schemeClr val="accent2"/>
              </a:solidFill>
              <a:latin typeface="Montserrat" panose="00000500000000000000" pitchFamily="2" charset="0"/>
            </a:endParaRPr>
          </a:p>
        </p:txBody>
      </p:sp>
      <p:sp>
        <p:nvSpPr>
          <p:cNvPr id="99" name="Google Shape;99;p15"/>
          <p:cNvSpPr txBox="1">
            <a:spLocks noGrp="1"/>
          </p:cNvSpPr>
          <p:nvPr>
            <p:ph type="body" idx="1"/>
          </p:nvPr>
        </p:nvSpPr>
        <p:spPr>
          <a:xfrm>
            <a:off x="302090" y="1454425"/>
            <a:ext cx="7391729" cy="3083500"/>
          </a:xfrm>
          <a:prstGeom prst="rect">
            <a:avLst/>
          </a:prstGeom>
        </p:spPr>
        <p:txBody>
          <a:bodyPr spcFirstLastPara="1" wrap="square" lIns="91425" tIns="91425" rIns="91425" bIns="91425" anchor="t" anchorCtr="0">
            <a:noAutofit/>
          </a:bodyPr>
          <a:lstStyle/>
          <a:p>
            <a:pPr>
              <a:buFont typeface="Wingdings" panose="05000000000000000000" pitchFamily="2" charset="2"/>
              <a:buChar char="q"/>
            </a:pPr>
            <a:r>
              <a:rPr lang="fr-FR" sz="1200" dirty="0">
                <a:solidFill>
                  <a:schemeClr val="tx1"/>
                </a:solidFill>
                <a:latin typeface="Montserrat" panose="00000500000000000000" pitchFamily="2" charset="0"/>
              </a:rPr>
              <a:t>Tendance haussière marquée des prix sur l’ensemble de la période, confirmant un marché structurellement tendu.</a:t>
            </a:r>
          </a:p>
          <a:p>
            <a:pPr>
              <a:buFont typeface="Wingdings" panose="05000000000000000000" pitchFamily="2" charset="2"/>
              <a:buChar char="q"/>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dirty="0">
                <a:solidFill>
                  <a:schemeClr val="tx1"/>
                </a:solidFill>
                <a:latin typeface="Montserrat" panose="00000500000000000000" pitchFamily="2" charset="0"/>
              </a:rPr>
              <a:t>La localisation est le facteur le plus discriminant :</a:t>
            </a:r>
          </a:p>
          <a:p>
            <a:pPr lvl="1">
              <a:buFont typeface="Wingdings" panose="05000000000000000000" pitchFamily="2" charset="2"/>
              <a:buChar char="ü"/>
            </a:pPr>
            <a:r>
              <a:rPr lang="fr-FR" sz="1200" dirty="0">
                <a:solidFill>
                  <a:schemeClr val="tx1"/>
                </a:solidFill>
                <a:latin typeface="Montserrat" panose="00000500000000000000" pitchFamily="2" charset="0"/>
              </a:rPr>
              <a:t>Forts écarts de prix entre arrondissements.</a:t>
            </a:r>
          </a:p>
          <a:p>
            <a:pPr lvl="1">
              <a:buFont typeface="Wingdings" panose="05000000000000000000" pitchFamily="2" charset="2"/>
              <a:buChar char="ü"/>
            </a:pPr>
            <a:r>
              <a:rPr lang="fr-FR" sz="1200" dirty="0">
                <a:solidFill>
                  <a:schemeClr val="tx1"/>
                </a:solidFill>
                <a:latin typeface="Montserrat" panose="00000500000000000000" pitchFamily="2" charset="0"/>
              </a:rPr>
              <a:t>Les arrondissements centraux restent les plus valorisés, même à surface équivalente.</a:t>
            </a:r>
          </a:p>
          <a:p>
            <a:pPr lvl="1">
              <a:buFont typeface="Wingdings" panose="05000000000000000000" pitchFamily="2" charset="2"/>
              <a:buChar char="ü"/>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dirty="0">
                <a:solidFill>
                  <a:schemeClr val="tx1"/>
                </a:solidFill>
                <a:latin typeface="Montserrat" panose="00000500000000000000" pitchFamily="2" charset="0"/>
              </a:rPr>
              <a:t>La surface influence fortement le prix, mais de manière non </a:t>
            </a:r>
            <a:r>
              <a:rPr lang="fr-FR" sz="1200">
                <a:solidFill>
                  <a:schemeClr val="tx1"/>
                </a:solidFill>
                <a:latin typeface="Montserrat" panose="00000500000000000000" pitchFamily="2" charset="0"/>
              </a:rPr>
              <a:t>linéaire </a:t>
            </a:r>
            <a:endParaRPr lang="fr-FR" sz="1200" dirty="0">
              <a:solidFill>
                <a:schemeClr val="tx1"/>
              </a:solidFill>
              <a:latin typeface="Montserrat" panose="00000500000000000000" pitchFamily="2" charset="0"/>
            </a:endParaRPr>
          </a:p>
          <a:p>
            <a:pPr>
              <a:buFont typeface="Wingdings" panose="05000000000000000000" pitchFamily="2" charset="2"/>
              <a:buChar char="q"/>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dirty="0">
                <a:solidFill>
                  <a:schemeClr val="tx1"/>
                </a:solidFill>
                <a:latin typeface="Montserrat" panose="00000500000000000000" pitchFamily="2" charset="0"/>
              </a:rPr>
              <a:t>Effet Covid visible en 2020 :</a:t>
            </a:r>
          </a:p>
          <a:p>
            <a:pPr lvl="1">
              <a:buFont typeface="Wingdings" panose="05000000000000000000" pitchFamily="2" charset="2"/>
              <a:buChar char="ü"/>
            </a:pPr>
            <a:r>
              <a:rPr lang="fr-FR" sz="1200" dirty="0">
                <a:solidFill>
                  <a:schemeClr val="tx1"/>
                </a:solidFill>
                <a:latin typeface="Montserrat" panose="00000500000000000000" pitchFamily="2" charset="0"/>
              </a:rPr>
              <a:t>Ralentissement des transactions.</a:t>
            </a:r>
          </a:p>
          <a:p>
            <a:pPr lvl="1">
              <a:buFont typeface="Wingdings" panose="05000000000000000000" pitchFamily="2" charset="2"/>
              <a:buChar char="ü"/>
            </a:pPr>
            <a:r>
              <a:rPr lang="fr-FR" sz="1200" dirty="0">
                <a:solidFill>
                  <a:schemeClr val="tx1"/>
                </a:solidFill>
                <a:latin typeface="Montserrat" panose="00000500000000000000" pitchFamily="2" charset="0"/>
              </a:rPr>
              <a:t>Pas de correction durable des prix → reprise rapide en 2021.</a:t>
            </a:r>
          </a:p>
          <a:p>
            <a:pPr lvl="1">
              <a:buFont typeface="Wingdings" panose="05000000000000000000" pitchFamily="2" charset="2"/>
              <a:buChar char="ü"/>
            </a:pPr>
            <a:endParaRPr lang="fr-FR" sz="1400" dirty="0">
              <a:solidFill>
                <a:schemeClr val="tx1"/>
              </a:solidFill>
              <a:latin typeface="Montserrat" panose="00000500000000000000" pitchFamily="2" charset="0"/>
            </a:endParaRPr>
          </a:p>
          <a:p>
            <a:pPr marL="444500" indent="-285750">
              <a:buFont typeface="Wingdings" panose="05000000000000000000" pitchFamily="2" charset="2"/>
              <a:buChar char="q"/>
            </a:pPr>
            <a:r>
              <a:rPr lang="fr-FR" sz="1200" dirty="0">
                <a:solidFill>
                  <a:schemeClr val="tx1"/>
                </a:solidFill>
                <a:latin typeface="Montserrat" panose="00000500000000000000" pitchFamily="2" charset="0"/>
              </a:rPr>
              <a:t>Le marché parisien reste favorable à une stratégie d’achat rapide, surtout lorsque l’information est incomplète mais que la localisation et la surface sont attractives.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7C49654E-19B9-04BB-C786-429634E55B8B}"/>
              </a:ext>
            </a:extLst>
          </p:cNvPr>
          <p:cNvSpPr>
            <a:spLocks noGrp="1"/>
          </p:cNvSpPr>
          <p:nvPr>
            <p:ph type="body" idx="1"/>
          </p:nvPr>
        </p:nvSpPr>
        <p:spPr>
          <a:xfrm>
            <a:off x="657226" y="1311642"/>
            <a:ext cx="6129338" cy="3138913"/>
          </a:xfrm>
        </p:spPr>
        <p:txBody>
          <a:bodyPr>
            <a:noAutofit/>
          </a:bodyPr>
          <a:lstStyle/>
          <a:p>
            <a:pPr>
              <a:lnSpc>
                <a:spcPct val="100000"/>
              </a:lnSpc>
              <a:buFont typeface="Wingdings" panose="05000000000000000000" pitchFamily="2" charset="2"/>
              <a:buChar char="q"/>
            </a:pPr>
            <a:r>
              <a:rPr lang="fr-FR" sz="1200" b="1" dirty="0">
                <a:solidFill>
                  <a:schemeClr val="tx1"/>
                </a:solidFill>
                <a:latin typeface="Montserrat" panose="00000500000000000000" pitchFamily="2" charset="0"/>
              </a:rPr>
              <a:t>Types de biens immobiliers observés:</a:t>
            </a:r>
          </a:p>
          <a:p>
            <a:pPr marL="146050" indent="0">
              <a:lnSpc>
                <a:spcPct val="100000"/>
              </a:lnSpc>
              <a:buNone/>
            </a:pPr>
            <a:r>
              <a:rPr lang="fr-FR" sz="1200" dirty="0">
                <a:solidFill>
                  <a:schemeClr val="tx1"/>
                </a:solidFill>
                <a:latin typeface="Montserrat" panose="00000500000000000000" pitchFamily="2" charset="0"/>
              </a:rPr>
              <a:t>Le marché parisien est largement dominé par les appartements</a:t>
            </a:r>
          </a:p>
          <a:p>
            <a:pPr>
              <a:lnSpc>
                <a:spcPct val="200000"/>
              </a:lnSpc>
              <a:buFont typeface="Wingdings" panose="05000000000000000000" pitchFamily="2" charset="2"/>
              <a:buChar char="q"/>
            </a:pPr>
            <a:r>
              <a:rPr lang="fr-FR" sz="1200" b="1" dirty="0">
                <a:solidFill>
                  <a:schemeClr val="tx1"/>
                </a:solidFill>
                <a:latin typeface="Montserrat" panose="00000500000000000000" pitchFamily="2" charset="0"/>
              </a:rPr>
              <a:t>Nombre de transactions (total et par type de bien):</a:t>
            </a:r>
          </a:p>
          <a:p>
            <a:pPr marL="0" lvl="0" indent="0" eaLnBrk="0" fontAlgn="base" hangingPunct="0">
              <a:lnSpc>
                <a:spcPct val="100000"/>
              </a:lnSpc>
              <a:spcBef>
                <a:spcPct val="0"/>
              </a:spcBef>
              <a:spcAft>
                <a:spcPct val="0"/>
              </a:spcAft>
              <a:buClrTx/>
              <a:buSzTx/>
              <a:buNone/>
            </a:pPr>
            <a:r>
              <a:rPr lang="fr-FR" altLang="fr-FR" sz="1200" dirty="0">
                <a:solidFill>
                  <a:schemeClr val="tx1"/>
                </a:solidFill>
                <a:latin typeface="Montserrat" panose="00000500000000000000" pitchFamily="2" charset="0"/>
              </a:rPr>
              <a:t>    Le volume total de transactions est élevé sur l’ensemble de la période.</a:t>
            </a:r>
          </a:p>
          <a:p>
            <a:pPr marL="171450" lvl="0" indent="-171450" eaLnBrk="0" fontAlgn="base" hangingPunct="0">
              <a:lnSpc>
                <a:spcPct val="100000"/>
              </a:lnSpc>
              <a:spcBef>
                <a:spcPct val="0"/>
              </a:spcBef>
              <a:spcAft>
                <a:spcPct val="0"/>
              </a:spcAft>
              <a:buClrTx/>
              <a:buSzTx/>
              <a:buFont typeface="Wingdings" panose="05000000000000000000" pitchFamily="2" charset="2"/>
              <a:buChar char="ü"/>
            </a:pPr>
            <a:r>
              <a:rPr lang="fr-FR" altLang="fr-FR" sz="1200" dirty="0">
                <a:solidFill>
                  <a:schemeClr val="tx1"/>
                </a:solidFill>
                <a:latin typeface="Montserrat" panose="00000500000000000000" pitchFamily="2" charset="0"/>
              </a:rPr>
              <a:t>Appartements : très grande majorité des ventes</a:t>
            </a:r>
          </a:p>
          <a:p>
            <a:pPr marL="171450" lvl="0" indent="-171450" eaLnBrk="0" fontAlgn="base" hangingPunct="0">
              <a:lnSpc>
                <a:spcPct val="100000"/>
              </a:lnSpc>
              <a:spcBef>
                <a:spcPct val="0"/>
              </a:spcBef>
              <a:spcAft>
                <a:spcPct val="0"/>
              </a:spcAft>
              <a:buClrTx/>
              <a:buSzTx/>
              <a:buFont typeface="Wingdings" panose="05000000000000000000" pitchFamily="2" charset="2"/>
              <a:buChar char="ü"/>
            </a:pPr>
            <a:r>
              <a:rPr lang="fr-FR" altLang="fr-FR" sz="1200" dirty="0">
                <a:solidFill>
                  <a:schemeClr val="tx1"/>
                </a:solidFill>
                <a:latin typeface="Montserrat" panose="00000500000000000000" pitchFamily="2" charset="0"/>
              </a:rPr>
              <a:t>Locaux commerciaux : part plus faible mais stratégique</a:t>
            </a:r>
          </a:p>
          <a:p>
            <a:pPr>
              <a:lnSpc>
                <a:spcPct val="200000"/>
              </a:lnSpc>
              <a:buFont typeface="Wingdings" panose="05000000000000000000" pitchFamily="2" charset="2"/>
              <a:buChar char="q"/>
            </a:pPr>
            <a:r>
              <a:rPr lang="fr-FR" sz="1200" b="1" dirty="0">
                <a:solidFill>
                  <a:schemeClr val="tx1"/>
                </a:solidFill>
                <a:latin typeface="Montserrat" panose="00000500000000000000" pitchFamily="2" charset="0"/>
              </a:rPr>
              <a:t>Evolution du prix moyen au m² des appartements (global Paris):</a:t>
            </a:r>
          </a:p>
          <a:p>
            <a:pPr marL="146050" indent="0">
              <a:buNone/>
            </a:pPr>
            <a:r>
              <a:rPr lang="fr-FR" sz="1200" dirty="0">
                <a:solidFill>
                  <a:schemeClr val="tx1"/>
                </a:solidFill>
                <a:latin typeface="Montserrat" panose="00000500000000000000" pitchFamily="2" charset="0"/>
              </a:rPr>
              <a:t>Le prix moyen au m² :</a:t>
            </a:r>
          </a:p>
          <a:p>
            <a:pPr lvl="1">
              <a:buFont typeface="Wingdings" panose="05000000000000000000" pitchFamily="2" charset="2"/>
              <a:buChar char="ü"/>
            </a:pPr>
            <a:r>
              <a:rPr lang="fr-FR" dirty="0">
                <a:solidFill>
                  <a:schemeClr val="tx1"/>
                </a:solidFill>
                <a:latin typeface="Montserrat" panose="00000500000000000000" pitchFamily="2" charset="0"/>
              </a:rPr>
              <a:t>Augmente régulièrement de 2017 à 2019</a:t>
            </a:r>
          </a:p>
          <a:p>
            <a:pPr lvl="1">
              <a:buFont typeface="Wingdings" panose="05000000000000000000" pitchFamily="2" charset="2"/>
              <a:buChar char="ü"/>
            </a:pPr>
            <a:r>
              <a:rPr lang="fr-FR" dirty="0">
                <a:solidFill>
                  <a:schemeClr val="tx1"/>
                </a:solidFill>
                <a:latin typeface="Montserrat" panose="00000500000000000000" pitchFamily="2" charset="0"/>
              </a:rPr>
              <a:t>Marque un léger ralentissement en 2020</a:t>
            </a:r>
          </a:p>
          <a:p>
            <a:pPr lvl="1">
              <a:buFont typeface="Wingdings" panose="05000000000000000000" pitchFamily="2" charset="2"/>
              <a:buChar char="ü"/>
            </a:pPr>
            <a:r>
              <a:rPr lang="fr-FR" dirty="0">
                <a:solidFill>
                  <a:schemeClr val="tx1"/>
                </a:solidFill>
                <a:latin typeface="Montserrat" panose="00000500000000000000" pitchFamily="2" charset="0"/>
              </a:rPr>
              <a:t>Repart à la hausse en 2021</a:t>
            </a:r>
          </a:p>
          <a:p>
            <a:pPr marL="146050" indent="0">
              <a:lnSpc>
                <a:spcPct val="100000"/>
              </a:lnSpc>
              <a:buNone/>
            </a:pPr>
            <a:r>
              <a:rPr lang="fr-FR" sz="1200" dirty="0">
                <a:solidFill>
                  <a:schemeClr val="tx1"/>
                </a:solidFill>
                <a:latin typeface="Montserrat" panose="00000500000000000000" pitchFamily="2" charset="0"/>
              </a:rPr>
              <a:t>La tendance globale reste nettement haussière sur toute la période.</a:t>
            </a:r>
          </a:p>
          <a:p>
            <a:pPr marL="0" lvl="0" indent="0" eaLnBrk="0" fontAlgn="base" hangingPunct="0">
              <a:lnSpc>
                <a:spcPct val="100000"/>
              </a:lnSpc>
              <a:spcBef>
                <a:spcPct val="0"/>
              </a:spcBef>
              <a:spcAft>
                <a:spcPct val="0"/>
              </a:spcAft>
              <a:buClrTx/>
              <a:buSzTx/>
              <a:buNone/>
            </a:pPr>
            <a:r>
              <a:rPr lang="fr-FR" sz="1200" dirty="0">
                <a:solidFill>
                  <a:schemeClr val="tx1"/>
                </a:solidFill>
                <a:latin typeface="Montserrat" panose="00000500000000000000" pitchFamily="2" charset="0"/>
              </a:rPr>
              <a:t>   La hausse structurelle des prix renforce l’intérêt d’agir vite sur les opportunités d’achat.</a:t>
            </a:r>
          </a:p>
          <a:p>
            <a:pPr marL="146050" indent="0">
              <a:buNone/>
            </a:pPr>
            <a:endParaRPr lang="fr-FR" sz="1200" dirty="0">
              <a:solidFill>
                <a:schemeClr val="tx1"/>
              </a:solidFill>
              <a:latin typeface="Montserrat" panose="00000500000000000000" pitchFamily="2" charset="0"/>
            </a:endParaRPr>
          </a:p>
        </p:txBody>
      </p:sp>
      <p:sp>
        <p:nvSpPr>
          <p:cNvPr id="9" name="Google Shape;98;p15">
            <a:extLst>
              <a:ext uri="{FF2B5EF4-FFF2-40B4-BE49-F238E27FC236}">
                <a16:creationId xmlns:a16="http://schemas.microsoft.com/office/drawing/2014/main" id="{EC1198A7-5E09-0BEA-45D7-37EB37DD8944}"/>
              </a:ext>
            </a:extLst>
          </p:cNvPr>
          <p:cNvSpPr txBox="1">
            <a:spLocks noGrp="1"/>
          </p:cNvSpPr>
          <p:nvPr>
            <p:ph type="title"/>
          </p:nvPr>
        </p:nvSpPr>
        <p:spPr>
          <a:xfrm>
            <a:off x="295961" y="425345"/>
            <a:ext cx="6851867" cy="535200"/>
          </a:xfrm>
          <a:prstGeom prst="rect">
            <a:avLst/>
          </a:prstGeom>
        </p:spPr>
        <p:txBody>
          <a:bodyPr spcFirstLastPara="1" wrap="square" lIns="91425" tIns="91425" rIns="91425" bIns="91425" anchor="t" anchorCtr="0">
            <a:noAutofit/>
          </a:bodyPr>
          <a:lstStyle/>
          <a:p>
            <a:pPr marL="457200" lvl="0" indent="-415290">
              <a:buSzPts val="2940"/>
              <a:buFont typeface="Montserrat"/>
              <a:buAutoNum type="romanUcPeriod"/>
            </a:pPr>
            <a:r>
              <a:rPr lang="fr-FR" sz="2000" b="1" dirty="0">
                <a:solidFill>
                  <a:schemeClr val="accent2"/>
                </a:solidFill>
                <a:latin typeface="Montserrat" panose="00000500000000000000" pitchFamily="2" charset="0"/>
              </a:rPr>
              <a:t>Analyse du marché immobilier parisien (2017–2021)</a:t>
            </a:r>
            <a:endParaRPr sz="2000" b="1" dirty="0">
              <a:solidFill>
                <a:schemeClr val="accent2"/>
              </a:solidFill>
              <a:latin typeface="Montserrat" panose="00000500000000000000" pitchFamily="2" charset="0"/>
            </a:endParaRPr>
          </a:p>
        </p:txBody>
      </p:sp>
    </p:spTree>
    <p:extLst>
      <p:ext uri="{BB962C8B-B14F-4D97-AF65-F5344CB8AC3E}">
        <p14:creationId xmlns:p14="http://schemas.microsoft.com/office/powerpoint/2010/main" val="1344517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0B755EC-341C-97F8-5B74-00785559ABFF}"/>
              </a:ext>
            </a:extLst>
          </p:cNvPr>
          <p:cNvSpPr>
            <a:spLocks noGrp="1"/>
          </p:cNvSpPr>
          <p:nvPr>
            <p:ph type="body" idx="1"/>
          </p:nvPr>
        </p:nvSpPr>
        <p:spPr>
          <a:xfrm>
            <a:off x="372263" y="1250199"/>
            <a:ext cx="7688700" cy="3643269"/>
          </a:xfrm>
        </p:spPr>
        <p:txBody>
          <a:bodyPr>
            <a:noAutofit/>
          </a:bodyPr>
          <a:lstStyle/>
          <a:p>
            <a:pPr marL="315450" indent="-171450" eaLnBrk="0" fontAlgn="base" hangingPunct="0">
              <a:lnSpc>
                <a:spcPct val="200000"/>
              </a:lnSpc>
              <a:spcBef>
                <a:spcPct val="0"/>
              </a:spcBef>
              <a:spcAft>
                <a:spcPct val="0"/>
              </a:spcAft>
              <a:buClrTx/>
              <a:buSzTx/>
              <a:buFont typeface="Wingdings" panose="05000000000000000000" pitchFamily="2" charset="2"/>
              <a:buChar char="q"/>
            </a:pPr>
            <a:r>
              <a:rPr lang="fr-FR" sz="1200" b="1" dirty="0">
                <a:solidFill>
                  <a:schemeClr val="tx1"/>
                </a:solidFill>
                <a:latin typeface="Montserrat" panose="00000500000000000000" pitchFamily="2" charset="0"/>
              </a:rPr>
              <a:t>    Différences de prix au m² par arrondissement:</a:t>
            </a:r>
          </a:p>
          <a:p>
            <a:pPr marL="171450" indent="-171450" eaLnBrk="0" fontAlgn="base" hangingPunct="0">
              <a:lnSpc>
                <a:spcPct val="100000"/>
              </a:lnSpc>
              <a:spcBef>
                <a:spcPct val="0"/>
              </a:spcBef>
              <a:spcAft>
                <a:spcPct val="0"/>
              </a:spcAft>
              <a:buClrTx/>
              <a:buSzTx/>
              <a:buFont typeface="Wingdings" panose="05000000000000000000" pitchFamily="2" charset="2"/>
              <a:buChar char="ü"/>
            </a:pPr>
            <a:r>
              <a:rPr lang="fr-FR" sz="1200" dirty="0">
                <a:solidFill>
                  <a:schemeClr val="tx1"/>
                </a:solidFill>
                <a:latin typeface="Montserrat" panose="00000500000000000000" pitchFamily="2" charset="0"/>
              </a:rPr>
              <a:t>Arrondissements centraux : prix élevés</a:t>
            </a:r>
          </a:p>
          <a:p>
            <a:pPr marL="171450" indent="-171450" eaLnBrk="0" fontAlgn="base" hangingPunct="0">
              <a:lnSpc>
                <a:spcPct val="100000"/>
              </a:lnSpc>
              <a:spcBef>
                <a:spcPct val="0"/>
              </a:spcBef>
              <a:spcAft>
                <a:spcPct val="0"/>
              </a:spcAft>
              <a:buClrTx/>
              <a:buSzTx/>
              <a:buFont typeface="Wingdings" panose="05000000000000000000" pitchFamily="2" charset="2"/>
              <a:buChar char="ü"/>
            </a:pPr>
            <a:r>
              <a:rPr lang="fr-FR" sz="1200" dirty="0">
                <a:solidFill>
                  <a:schemeClr val="tx1"/>
                </a:solidFill>
                <a:latin typeface="Montserrat" panose="00000500000000000000" pitchFamily="2" charset="0"/>
              </a:rPr>
              <a:t>Arrondissements périphériques : prix plus accessibles</a:t>
            </a:r>
          </a:p>
          <a:p>
            <a:pPr marL="146050" indent="0">
              <a:buNone/>
            </a:pPr>
            <a:endParaRPr lang="fr-FR" sz="1200" dirty="0">
              <a:solidFill>
                <a:schemeClr val="tx1"/>
              </a:solidFill>
              <a:latin typeface="Montserrat" panose="00000500000000000000" pitchFamily="2" charset="0"/>
            </a:endParaRPr>
          </a:p>
          <a:p>
            <a:pPr marL="146050" indent="0">
              <a:buNone/>
            </a:pPr>
            <a:r>
              <a:rPr lang="fr-FR" sz="1200" dirty="0">
                <a:solidFill>
                  <a:schemeClr val="tx1"/>
                </a:solidFill>
                <a:latin typeface="Montserrat" panose="00000500000000000000" pitchFamily="2" charset="0"/>
              </a:rPr>
              <a:t>L’écart entre les arrondissements extrêmes est très significatif.</a:t>
            </a:r>
            <a:br>
              <a:rPr lang="fr-FR" sz="1200" dirty="0">
                <a:solidFill>
                  <a:schemeClr val="tx1"/>
                </a:solidFill>
                <a:latin typeface="Montserrat" panose="00000500000000000000" pitchFamily="2" charset="0"/>
              </a:rPr>
            </a:br>
            <a:r>
              <a:rPr lang="fr-FR" sz="1200" dirty="0">
                <a:solidFill>
                  <a:schemeClr val="tx1"/>
                </a:solidFill>
                <a:latin typeface="Montserrat" panose="00000500000000000000" pitchFamily="2" charset="0"/>
              </a:rPr>
              <a:t>La localisation est le facteur le plus déterminant du prix au m² à Paris.</a:t>
            </a:r>
          </a:p>
          <a:p>
            <a:pPr marL="146050" indent="0">
              <a:buNone/>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b="1" dirty="0">
                <a:solidFill>
                  <a:schemeClr val="tx1"/>
                </a:solidFill>
                <a:latin typeface="Montserrat" panose="00000500000000000000" pitchFamily="2" charset="0"/>
              </a:rPr>
              <a:t>Prix au m² par transaction dans un arrondissement:</a:t>
            </a:r>
          </a:p>
          <a:p>
            <a:pPr marL="146050" indent="0">
              <a:buNone/>
            </a:pPr>
            <a:r>
              <a:rPr lang="fr-FR" sz="1200" dirty="0">
                <a:solidFill>
                  <a:schemeClr val="tx1"/>
                </a:solidFill>
                <a:latin typeface="Montserrat" panose="00000500000000000000" pitchFamily="2" charset="0"/>
              </a:rPr>
              <a:t>Forte dispersion des prix au m² au sein d’un même arrondissement.</a:t>
            </a:r>
            <a:br>
              <a:rPr lang="fr-FR" sz="1200" dirty="0">
                <a:solidFill>
                  <a:schemeClr val="tx1"/>
                </a:solidFill>
                <a:latin typeface="Montserrat" panose="00000500000000000000" pitchFamily="2" charset="0"/>
              </a:rPr>
            </a:br>
            <a:r>
              <a:rPr lang="fr-FR" sz="1200" dirty="0">
                <a:solidFill>
                  <a:schemeClr val="tx1"/>
                </a:solidFill>
                <a:latin typeface="Montserrat" panose="00000500000000000000" pitchFamily="2" charset="0"/>
              </a:rPr>
              <a:t>Même à localisation égale, chaque bien reste unique, ce qui justifie une analyse fine transaction par transaction.</a:t>
            </a:r>
          </a:p>
          <a:p>
            <a:pPr marL="146050" indent="0">
              <a:buNone/>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b="1" dirty="0">
                <a:solidFill>
                  <a:schemeClr val="tx1"/>
                </a:solidFill>
                <a:latin typeface="Montserrat" panose="00000500000000000000" pitchFamily="2" charset="0"/>
              </a:rPr>
              <a:t>Corrélation entre le prix au m² et la date de transaction:</a:t>
            </a:r>
          </a:p>
          <a:p>
            <a:pPr marL="146050" indent="0">
              <a:buNone/>
            </a:pPr>
            <a:r>
              <a:rPr lang="fr-FR" sz="1200" dirty="0">
                <a:solidFill>
                  <a:schemeClr val="tx1"/>
                </a:solidFill>
                <a:latin typeface="Montserrat" panose="00000500000000000000" pitchFamily="2" charset="0"/>
              </a:rPr>
              <a:t>Corrélation positive mais modérée</a:t>
            </a:r>
          </a:p>
          <a:p>
            <a:pPr marL="146050" indent="0">
              <a:buNone/>
            </a:pPr>
            <a:r>
              <a:rPr lang="fr-FR" sz="1200" dirty="0">
                <a:solidFill>
                  <a:schemeClr val="tx1"/>
                </a:solidFill>
                <a:latin typeface="Montserrat" panose="00000500000000000000" pitchFamily="2" charset="0"/>
              </a:rPr>
              <a:t>Le temps explique une partie de la hausse, mais pas à lui seul.</a:t>
            </a:r>
            <a:br>
              <a:rPr lang="fr-FR" sz="1200" dirty="0">
                <a:solidFill>
                  <a:schemeClr val="tx1"/>
                </a:solidFill>
                <a:latin typeface="Montserrat" panose="00000500000000000000" pitchFamily="2" charset="0"/>
              </a:rPr>
            </a:br>
            <a:r>
              <a:rPr lang="fr-FR" sz="1200" dirty="0">
                <a:solidFill>
                  <a:schemeClr val="tx1"/>
                </a:solidFill>
                <a:latin typeface="Montserrat" panose="00000500000000000000" pitchFamily="2" charset="0"/>
              </a:rPr>
              <a:t>La date influence les prix, mais doit toujours être analysée en combinaison avec la localisation et la surface.</a:t>
            </a:r>
          </a:p>
          <a:p>
            <a:pPr marL="146050" indent="0">
              <a:buNone/>
            </a:pPr>
            <a:endParaRPr lang="fr-FR" sz="1200" dirty="0">
              <a:solidFill>
                <a:schemeClr val="tx1"/>
              </a:solidFill>
              <a:latin typeface="Montserrat" panose="00000500000000000000" pitchFamily="2" charset="0"/>
            </a:endParaRPr>
          </a:p>
          <a:p>
            <a:pPr marL="146050" indent="0">
              <a:buNone/>
            </a:pPr>
            <a:br>
              <a:rPr lang="fr-FR" sz="1200" dirty="0">
                <a:solidFill>
                  <a:schemeClr val="tx1"/>
                </a:solidFill>
                <a:latin typeface="Montserrat" panose="00000500000000000000" pitchFamily="2" charset="0"/>
              </a:rPr>
            </a:br>
            <a:endParaRPr lang="fr-FR" sz="1200" dirty="0">
              <a:solidFill>
                <a:schemeClr val="tx1"/>
              </a:solidFill>
              <a:latin typeface="Montserrat" panose="00000500000000000000" pitchFamily="2" charset="0"/>
            </a:endParaRPr>
          </a:p>
          <a:p>
            <a:endParaRPr lang="fr-FR" sz="1200" dirty="0">
              <a:solidFill>
                <a:schemeClr val="tx1"/>
              </a:solidFill>
              <a:latin typeface="Montserrat" panose="00000500000000000000" pitchFamily="2" charset="0"/>
            </a:endParaRPr>
          </a:p>
        </p:txBody>
      </p:sp>
      <p:sp>
        <p:nvSpPr>
          <p:cNvPr id="5" name="Google Shape;98;p15">
            <a:extLst>
              <a:ext uri="{FF2B5EF4-FFF2-40B4-BE49-F238E27FC236}">
                <a16:creationId xmlns:a16="http://schemas.microsoft.com/office/drawing/2014/main" id="{C6265CFC-F4F2-F198-2416-79A773812F3C}"/>
              </a:ext>
            </a:extLst>
          </p:cNvPr>
          <p:cNvSpPr txBox="1">
            <a:spLocks noGrp="1"/>
          </p:cNvSpPr>
          <p:nvPr>
            <p:ph type="title"/>
          </p:nvPr>
        </p:nvSpPr>
        <p:spPr>
          <a:xfrm>
            <a:off x="372263" y="526994"/>
            <a:ext cx="6851867" cy="535200"/>
          </a:xfrm>
          <a:prstGeom prst="rect">
            <a:avLst/>
          </a:prstGeom>
        </p:spPr>
        <p:txBody>
          <a:bodyPr spcFirstLastPara="1" wrap="square" lIns="91425" tIns="91425" rIns="91425" bIns="91425" anchor="t" anchorCtr="0">
            <a:noAutofit/>
          </a:bodyPr>
          <a:lstStyle/>
          <a:p>
            <a:pPr marL="457200" lvl="0" indent="-415290">
              <a:buSzPts val="2940"/>
              <a:buFont typeface="Montserrat"/>
              <a:buAutoNum type="romanUcPeriod"/>
            </a:pPr>
            <a:r>
              <a:rPr lang="fr-FR" sz="2000" b="1" dirty="0">
                <a:solidFill>
                  <a:schemeClr val="accent2"/>
                </a:solidFill>
                <a:latin typeface="Montserrat" panose="00000500000000000000" pitchFamily="2" charset="0"/>
              </a:rPr>
              <a:t>Analyse du marché immobilier parisien (2017–2021)</a:t>
            </a:r>
            <a:endParaRPr sz="2000" b="1" dirty="0">
              <a:solidFill>
                <a:schemeClr val="accent2"/>
              </a:solidFill>
              <a:latin typeface="Montserrat" panose="00000500000000000000" pitchFamily="2" charset="0"/>
            </a:endParaRPr>
          </a:p>
        </p:txBody>
      </p:sp>
    </p:spTree>
    <p:extLst>
      <p:ext uri="{BB962C8B-B14F-4D97-AF65-F5344CB8AC3E}">
        <p14:creationId xmlns:p14="http://schemas.microsoft.com/office/powerpoint/2010/main" val="3869539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8277FA6C-6695-C770-AE17-2CBF7847A3D4}"/>
              </a:ext>
            </a:extLst>
          </p:cNvPr>
          <p:cNvSpPr>
            <a:spLocks noGrp="1"/>
          </p:cNvSpPr>
          <p:nvPr>
            <p:ph type="body" idx="1"/>
          </p:nvPr>
        </p:nvSpPr>
        <p:spPr>
          <a:xfrm>
            <a:off x="402243" y="1432342"/>
            <a:ext cx="7212995" cy="2682457"/>
          </a:xfrm>
        </p:spPr>
        <p:txBody>
          <a:bodyPr>
            <a:noAutofit/>
          </a:bodyPr>
          <a:lstStyle/>
          <a:p>
            <a:pPr marL="146050" indent="0">
              <a:buNone/>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b="1" dirty="0">
                <a:solidFill>
                  <a:schemeClr val="tx1"/>
                </a:solidFill>
                <a:latin typeface="Montserrat" panose="00000500000000000000" pitchFamily="2" charset="0"/>
              </a:rPr>
              <a:t>Corrélation entre le prix au m² et la surface:</a:t>
            </a:r>
          </a:p>
          <a:p>
            <a:pPr marL="146050" indent="0">
              <a:buNone/>
            </a:pPr>
            <a:r>
              <a:rPr lang="fr-FR" sz="1200" dirty="0">
                <a:solidFill>
                  <a:schemeClr val="tx1"/>
                </a:solidFill>
                <a:latin typeface="Montserrat" panose="00000500000000000000" pitchFamily="2" charset="0"/>
              </a:rPr>
              <a:t>Corrélation généralement négative</a:t>
            </a:r>
          </a:p>
          <a:p>
            <a:pPr marL="146050" indent="0">
              <a:buNone/>
            </a:pPr>
            <a:r>
              <a:rPr lang="fr-FR" sz="1200" dirty="0">
                <a:solidFill>
                  <a:schemeClr val="tx1"/>
                </a:solidFill>
                <a:latin typeface="Montserrat" panose="00000500000000000000" pitchFamily="2" charset="0"/>
              </a:rPr>
              <a:t>Les petites surfaces affichent souvent un prix au m² plus élevé</a:t>
            </a:r>
          </a:p>
          <a:p>
            <a:pPr marL="146050" indent="0">
              <a:buNone/>
            </a:pPr>
            <a:r>
              <a:rPr lang="fr-FR" sz="1200" dirty="0">
                <a:solidFill>
                  <a:schemeClr val="tx1"/>
                </a:solidFill>
                <a:latin typeface="Montserrat" panose="00000500000000000000" pitchFamily="2" charset="0"/>
              </a:rPr>
              <a:t>Les grandes surfaces bénéficient d’un prix au m² plus faible.</a:t>
            </a:r>
            <a:br>
              <a:rPr lang="fr-FR" sz="1200" dirty="0">
                <a:solidFill>
                  <a:schemeClr val="tx1"/>
                </a:solidFill>
                <a:latin typeface="Montserrat" panose="00000500000000000000" pitchFamily="2" charset="0"/>
              </a:rPr>
            </a:br>
            <a:r>
              <a:rPr lang="fr-FR" sz="1200" dirty="0">
                <a:solidFill>
                  <a:schemeClr val="tx1"/>
                </a:solidFill>
                <a:latin typeface="Montserrat" panose="00000500000000000000" pitchFamily="2" charset="0"/>
              </a:rPr>
              <a:t>Les petites surfaces sont plus chères au m², mais pas nécessairement plus rentables à l’achat/revente.</a:t>
            </a:r>
          </a:p>
          <a:p>
            <a:pPr marL="146050" indent="0">
              <a:buNone/>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b="1" dirty="0">
                <a:solidFill>
                  <a:schemeClr val="tx1"/>
                </a:solidFill>
                <a:latin typeface="Montserrat" panose="00000500000000000000" pitchFamily="2" charset="0"/>
              </a:rPr>
              <a:t>Différence de prix au m² : appartements vs locaux commerciaux</a:t>
            </a:r>
          </a:p>
          <a:p>
            <a:pPr marL="146050" indent="0">
              <a:buNone/>
            </a:pPr>
            <a:r>
              <a:rPr lang="fr-FR" sz="1200" dirty="0">
                <a:solidFill>
                  <a:schemeClr val="tx1"/>
                </a:solidFill>
                <a:latin typeface="Montserrat" panose="00000500000000000000" pitchFamily="2" charset="0"/>
              </a:rPr>
              <a:t>Les locaux commerciaux présentent :</a:t>
            </a:r>
          </a:p>
          <a:p>
            <a:pPr lvl="1">
              <a:buFont typeface="Wingdings" panose="05000000000000000000" pitchFamily="2" charset="2"/>
              <a:buChar char="ü"/>
            </a:pPr>
            <a:r>
              <a:rPr lang="fr-FR" sz="1200" dirty="0">
                <a:solidFill>
                  <a:schemeClr val="tx1"/>
                </a:solidFill>
                <a:latin typeface="Montserrat" panose="00000500000000000000" pitchFamily="2" charset="0"/>
              </a:rPr>
              <a:t>Des prix au m² différents, souvent plus volatils</a:t>
            </a:r>
          </a:p>
          <a:p>
            <a:pPr lvl="1">
              <a:buFont typeface="Wingdings" panose="05000000000000000000" pitchFamily="2" charset="2"/>
              <a:buChar char="ü"/>
            </a:pPr>
            <a:r>
              <a:rPr lang="fr-FR" sz="1200" dirty="0">
                <a:solidFill>
                  <a:schemeClr val="tx1"/>
                </a:solidFill>
                <a:latin typeface="Montserrat" panose="00000500000000000000" pitchFamily="2" charset="0"/>
              </a:rPr>
              <a:t>Une logique de valorisation distincte (emplacement commercial, flux, usage)</a:t>
            </a:r>
          </a:p>
          <a:p>
            <a:pPr marL="146050" indent="0">
              <a:buNone/>
            </a:pPr>
            <a:r>
              <a:rPr lang="fr-FR" sz="1200" dirty="0">
                <a:solidFill>
                  <a:schemeClr val="tx1"/>
                </a:solidFill>
                <a:latin typeface="Montserrat" panose="00000500000000000000" pitchFamily="2" charset="0"/>
              </a:rPr>
              <a:t>Les appartements suivent une dynamique plus homogène.</a:t>
            </a:r>
            <a:br>
              <a:rPr lang="fr-FR" sz="1200" dirty="0">
                <a:solidFill>
                  <a:schemeClr val="tx1"/>
                </a:solidFill>
                <a:latin typeface="Montserrat" panose="00000500000000000000" pitchFamily="2" charset="0"/>
              </a:rPr>
            </a:br>
            <a:endParaRPr lang="fr-FR" altLang="fr-FR" sz="1200" dirty="0">
              <a:solidFill>
                <a:schemeClr val="tx1"/>
              </a:solidFill>
              <a:latin typeface="Montserrat" panose="00000500000000000000" pitchFamily="2" charset="0"/>
            </a:endParaRPr>
          </a:p>
          <a:p>
            <a:endParaRPr lang="fr-FR" sz="1200" dirty="0">
              <a:solidFill>
                <a:schemeClr val="tx1"/>
              </a:solidFill>
              <a:latin typeface="Montserrat" panose="00000500000000000000" pitchFamily="2" charset="0"/>
            </a:endParaRPr>
          </a:p>
        </p:txBody>
      </p:sp>
      <p:sp>
        <p:nvSpPr>
          <p:cNvPr id="5" name="Google Shape;98;p15">
            <a:extLst>
              <a:ext uri="{FF2B5EF4-FFF2-40B4-BE49-F238E27FC236}">
                <a16:creationId xmlns:a16="http://schemas.microsoft.com/office/drawing/2014/main" id="{1C578757-8909-A70F-0A64-84A9EEF1AA08}"/>
              </a:ext>
            </a:extLst>
          </p:cNvPr>
          <p:cNvSpPr txBox="1">
            <a:spLocks noGrp="1"/>
          </p:cNvSpPr>
          <p:nvPr>
            <p:ph type="title"/>
          </p:nvPr>
        </p:nvSpPr>
        <p:spPr>
          <a:xfrm>
            <a:off x="249019" y="668542"/>
            <a:ext cx="6851867" cy="535200"/>
          </a:xfrm>
          <a:prstGeom prst="rect">
            <a:avLst/>
          </a:prstGeom>
        </p:spPr>
        <p:txBody>
          <a:bodyPr spcFirstLastPara="1" wrap="square" lIns="91425" tIns="91425" rIns="91425" bIns="91425" anchor="t" anchorCtr="0">
            <a:noAutofit/>
          </a:bodyPr>
          <a:lstStyle/>
          <a:p>
            <a:pPr marL="457200" lvl="0" indent="-415290">
              <a:buSzPts val="2940"/>
              <a:buFont typeface="Montserrat"/>
              <a:buAutoNum type="romanUcPeriod"/>
            </a:pPr>
            <a:r>
              <a:rPr lang="fr-FR" sz="2000" b="1" dirty="0">
                <a:solidFill>
                  <a:schemeClr val="accent2"/>
                </a:solidFill>
                <a:latin typeface="Montserrat" panose="00000500000000000000" pitchFamily="2" charset="0"/>
              </a:rPr>
              <a:t>Analyse du marché immobilier parisien (2017–2021)</a:t>
            </a:r>
            <a:endParaRPr sz="2000" b="1" dirty="0">
              <a:solidFill>
                <a:schemeClr val="accent2"/>
              </a:solidFill>
              <a:latin typeface="Montserrat" panose="00000500000000000000" pitchFamily="2" charset="0"/>
            </a:endParaRPr>
          </a:p>
        </p:txBody>
      </p:sp>
    </p:spTree>
    <p:extLst>
      <p:ext uri="{BB962C8B-B14F-4D97-AF65-F5344CB8AC3E}">
        <p14:creationId xmlns:p14="http://schemas.microsoft.com/office/powerpoint/2010/main" val="1667228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ct val="33333"/>
              <a:buFont typeface="Arial"/>
              <a:buNone/>
            </a:pPr>
            <a:r>
              <a:rPr lang="fr" sz="2000" b="1" dirty="0">
                <a:solidFill>
                  <a:schemeClr val="accent2"/>
                </a:solidFill>
                <a:latin typeface="Montserrat" panose="00000500000000000000" pitchFamily="2" charset="0"/>
                <a:ea typeface="Montserrat"/>
                <a:cs typeface="Montserrat"/>
                <a:sym typeface="Montserrat"/>
              </a:rPr>
              <a:t>II. Méthodologie suivie </a:t>
            </a:r>
            <a:endParaRPr sz="2000" b="1" dirty="0">
              <a:solidFill>
                <a:schemeClr val="accent2"/>
              </a:solidFill>
              <a:latin typeface="Montserrat" panose="00000500000000000000" pitchFamily="2" charset="0"/>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2000" b="1" dirty="0">
              <a:solidFill>
                <a:schemeClr val="accent2"/>
              </a:solidFill>
              <a:latin typeface="Montserrat" panose="00000500000000000000" pitchFamily="2" charset="0"/>
            </a:endParaRPr>
          </a:p>
          <a:p>
            <a:pPr marL="0" lvl="0" indent="0" algn="l" rtl="0">
              <a:spcBef>
                <a:spcPts val="0"/>
              </a:spcBef>
              <a:spcAft>
                <a:spcPts val="0"/>
              </a:spcAft>
              <a:buClr>
                <a:schemeClr val="dk1"/>
              </a:buClr>
              <a:buSzPct val="30555"/>
              <a:buFont typeface="Arial"/>
              <a:buNone/>
            </a:pPr>
            <a:endParaRPr sz="2000" b="1" dirty="0">
              <a:solidFill>
                <a:schemeClr val="accent2"/>
              </a:solidFill>
              <a:latin typeface="Montserrat" panose="00000500000000000000" pitchFamily="2" charset="0"/>
            </a:endParaRPr>
          </a:p>
          <a:p>
            <a:pPr marL="0" lvl="0" indent="0" algn="l" rtl="0">
              <a:spcBef>
                <a:spcPts val="0"/>
              </a:spcBef>
              <a:spcAft>
                <a:spcPts val="0"/>
              </a:spcAft>
              <a:buNone/>
            </a:pPr>
            <a:endParaRPr sz="2000" b="1" dirty="0">
              <a:solidFill>
                <a:schemeClr val="accent2"/>
              </a:solidFill>
              <a:latin typeface="Montserrat" panose="00000500000000000000" pitchFamily="2" charset="0"/>
            </a:endParaRPr>
          </a:p>
        </p:txBody>
      </p:sp>
      <p:sp>
        <p:nvSpPr>
          <p:cNvPr id="105" name="Google Shape;105;p16"/>
          <p:cNvSpPr txBox="1">
            <a:spLocks noGrp="1"/>
          </p:cNvSpPr>
          <p:nvPr>
            <p:ph type="body" idx="1"/>
          </p:nvPr>
        </p:nvSpPr>
        <p:spPr>
          <a:xfrm>
            <a:off x="729450" y="1437850"/>
            <a:ext cx="7688700" cy="2902200"/>
          </a:xfrm>
          <a:prstGeom prst="rect">
            <a:avLst/>
          </a:prstGeom>
        </p:spPr>
        <p:txBody>
          <a:bodyPr spcFirstLastPara="1" wrap="square" lIns="91425" tIns="91425" rIns="91425" bIns="91425" anchor="t" anchorCtr="0">
            <a:noAutofit/>
          </a:bodyPr>
          <a:lstStyle/>
          <a:p>
            <a:pPr>
              <a:buFont typeface="Wingdings" panose="05000000000000000000" pitchFamily="2" charset="2"/>
              <a:buChar char="q"/>
            </a:pPr>
            <a:r>
              <a:rPr lang="fr-FR" sz="1200" dirty="0">
                <a:latin typeface="Montserrat" panose="00000500000000000000" pitchFamily="2" charset="0"/>
              </a:rPr>
              <a:t>Préparation et nettoyage des données</a:t>
            </a:r>
          </a:p>
          <a:p>
            <a:pPr>
              <a:buFont typeface="Wingdings" panose="05000000000000000000" pitchFamily="2" charset="2"/>
              <a:buChar char="q"/>
            </a:pPr>
            <a:r>
              <a:rPr lang="fr-FR" sz="1200" dirty="0">
                <a:latin typeface="Montserrat" panose="00000500000000000000" pitchFamily="2" charset="0"/>
              </a:rPr>
              <a:t>Analyse exploratoire (graphiques)</a:t>
            </a:r>
          </a:p>
          <a:p>
            <a:pPr>
              <a:buFont typeface="Wingdings" panose="05000000000000000000" pitchFamily="2" charset="2"/>
              <a:buChar char="q"/>
            </a:pPr>
            <a:r>
              <a:rPr lang="fr-FR" sz="1200" dirty="0">
                <a:latin typeface="Montserrat" panose="00000500000000000000" pitchFamily="2" charset="0"/>
              </a:rPr>
              <a:t>Régression linéaire (valorisation)</a:t>
            </a:r>
          </a:p>
          <a:p>
            <a:pPr>
              <a:buFont typeface="Wingdings" panose="05000000000000000000" pitchFamily="2" charset="2"/>
              <a:buChar char="q"/>
            </a:pPr>
            <a:r>
              <a:rPr lang="fr-FR" sz="1200" dirty="0">
                <a:latin typeface="Montserrat" panose="00000500000000000000" pitchFamily="2" charset="0"/>
              </a:rPr>
              <a:t>K-</a:t>
            </a:r>
            <a:r>
              <a:rPr lang="fr-FR" sz="1200" dirty="0" err="1">
                <a:latin typeface="Montserrat" panose="00000500000000000000" pitchFamily="2" charset="0"/>
              </a:rPr>
              <a:t>means</a:t>
            </a:r>
            <a:r>
              <a:rPr lang="fr-FR" sz="1200" dirty="0">
                <a:latin typeface="Montserrat" panose="00000500000000000000" pitchFamily="2" charset="0"/>
              </a:rPr>
              <a:t> (classification)</a:t>
            </a:r>
          </a:p>
          <a:p>
            <a:pPr>
              <a:buFont typeface="Wingdings" panose="05000000000000000000" pitchFamily="2" charset="2"/>
              <a:buChar char="q"/>
            </a:pPr>
            <a:endParaRPr lang="fr-FR" sz="1200" dirty="0">
              <a:latin typeface="Montserrat" panose="00000500000000000000" pitchFamily="2" charset="0"/>
            </a:endParaRPr>
          </a:p>
          <a:p>
            <a:pPr>
              <a:buFont typeface="Wingdings" panose="05000000000000000000" pitchFamily="2" charset="2"/>
              <a:buChar char="q"/>
            </a:pPr>
            <a:r>
              <a:rPr lang="fr-FR" sz="1200" dirty="0">
                <a:latin typeface="Montserrat" panose="00000500000000000000" pitchFamily="2" charset="0"/>
              </a:rPr>
              <a:t>Prédiction de valorisation</a:t>
            </a:r>
          </a:p>
          <a:p>
            <a:pPr>
              <a:buFont typeface="Wingdings" panose="05000000000000000000" pitchFamily="2" charset="2"/>
              <a:buChar char="q"/>
            </a:pPr>
            <a:r>
              <a:rPr lang="fr-FR" sz="1200" dirty="0">
                <a:latin typeface="Montserrat" panose="00000500000000000000" pitchFamily="2" charset="0"/>
              </a:rPr>
              <a:t>Régression linéaire multivariée</a:t>
            </a:r>
          </a:p>
          <a:p>
            <a:pPr>
              <a:buFont typeface="Wingdings" panose="05000000000000000000" pitchFamily="2" charset="2"/>
              <a:buChar char="q"/>
            </a:pPr>
            <a:r>
              <a:rPr lang="fr-FR" sz="1200" dirty="0">
                <a:latin typeface="Montserrat" panose="00000500000000000000" pitchFamily="2" charset="0"/>
              </a:rPr>
              <a:t>Variables explicatives claires</a:t>
            </a:r>
          </a:p>
          <a:p>
            <a:pPr>
              <a:buFont typeface="Wingdings" panose="05000000000000000000" pitchFamily="2" charset="2"/>
              <a:buChar char="q"/>
            </a:pPr>
            <a:r>
              <a:rPr lang="fr-FR" sz="1200" dirty="0">
                <a:latin typeface="Montserrat" panose="00000500000000000000" pitchFamily="2" charset="0"/>
              </a:rPr>
              <a:t>Projection au 31/12/2022</a:t>
            </a:r>
          </a:p>
          <a:p>
            <a:pPr>
              <a:buFont typeface="Wingdings" panose="05000000000000000000" pitchFamily="2" charset="2"/>
              <a:buChar char="q"/>
            </a:pPr>
            <a:r>
              <a:rPr lang="fr-FR" sz="1200" dirty="0">
                <a:latin typeface="Montserrat" panose="00000500000000000000" pitchFamily="2" charset="0"/>
              </a:rPr>
              <a:t>Modèle interprétable</a:t>
            </a:r>
          </a:p>
          <a:p>
            <a:pPr marL="0" indent="0">
              <a:spcBef>
                <a:spcPts val="1200"/>
              </a:spcBef>
              <a:spcAft>
                <a:spcPts val="1200"/>
              </a:spcAft>
              <a:buNone/>
            </a:pPr>
            <a:endParaRPr sz="1200" dirty="0">
              <a:latin typeface="Montserrat" panose="000005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78518007-B954-8A27-69BA-69FAF25E6994}"/>
              </a:ext>
            </a:extLst>
          </p:cNvPr>
          <p:cNvSpPr>
            <a:spLocks noGrp="1"/>
          </p:cNvSpPr>
          <p:nvPr>
            <p:ph type="body" idx="1"/>
          </p:nvPr>
        </p:nvSpPr>
        <p:spPr>
          <a:xfrm>
            <a:off x="300825" y="1028119"/>
            <a:ext cx="7307269" cy="3529594"/>
          </a:xfrm>
        </p:spPr>
        <p:txBody>
          <a:bodyPr>
            <a:noAutofit/>
          </a:bodyPr>
          <a:lstStyle/>
          <a:p>
            <a:pPr>
              <a:buFont typeface="Wingdings" panose="05000000000000000000" pitchFamily="2" charset="2"/>
              <a:buChar char="q"/>
            </a:pPr>
            <a:r>
              <a:rPr lang="fr-FR" sz="1400" b="1" dirty="0">
                <a:solidFill>
                  <a:schemeClr val="tx1"/>
                </a:solidFill>
                <a:latin typeface="Montserrat" panose="00000500000000000000" pitchFamily="2" charset="0"/>
              </a:rPr>
              <a:t>Modèle de régression linéaire (valorisation):</a:t>
            </a:r>
          </a:p>
          <a:p>
            <a:pPr marL="146050" indent="0">
              <a:buNone/>
            </a:pPr>
            <a:r>
              <a:rPr lang="fr-FR" sz="1200" dirty="0">
                <a:solidFill>
                  <a:schemeClr val="tx1"/>
                </a:solidFill>
                <a:latin typeface="Montserrat" panose="00000500000000000000" pitchFamily="2" charset="0"/>
              </a:rPr>
              <a:t>La régression linéaire multivariée permet d’expliquer une part significative du prix à partir de :</a:t>
            </a:r>
          </a:p>
          <a:p>
            <a:pPr lvl="1">
              <a:buFont typeface="Wingdings" panose="05000000000000000000" pitchFamily="2" charset="2"/>
              <a:buChar char="ü"/>
            </a:pPr>
            <a:r>
              <a:rPr lang="fr-FR" dirty="0">
                <a:solidFill>
                  <a:schemeClr val="tx1"/>
                </a:solidFill>
                <a:latin typeface="Montserrat" panose="00000500000000000000" pitchFamily="2" charset="0"/>
              </a:rPr>
              <a:t>Surface</a:t>
            </a:r>
          </a:p>
          <a:p>
            <a:pPr lvl="1">
              <a:buFont typeface="Wingdings" panose="05000000000000000000" pitchFamily="2" charset="2"/>
              <a:buChar char="ü"/>
            </a:pPr>
            <a:r>
              <a:rPr lang="fr-FR" dirty="0">
                <a:solidFill>
                  <a:schemeClr val="tx1"/>
                </a:solidFill>
                <a:latin typeface="Montserrat" panose="00000500000000000000" pitchFamily="2" charset="0"/>
              </a:rPr>
              <a:t>Localisation</a:t>
            </a:r>
          </a:p>
          <a:p>
            <a:pPr lvl="1">
              <a:buFont typeface="Wingdings" panose="05000000000000000000" pitchFamily="2" charset="2"/>
              <a:buChar char="ü"/>
            </a:pPr>
            <a:r>
              <a:rPr lang="fr-FR" dirty="0">
                <a:solidFill>
                  <a:schemeClr val="tx1"/>
                </a:solidFill>
                <a:latin typeface="Montserrat" panose="00000500000000000000" pitchFamily="2" charset="0"/>
              </a:rPr>
              <a:t>Type de bien </a:t>
            </a:r>
            <a:r>
              <a:rPr lang="fr-FR" sz="1200" dirty="0">
                <a:solidFill>
                  <a:schemeClr val="tx1"/>
                </a:solidFill>
                <a:latin typeface="Montserrat" panose="00000500000000000000" pitchFamily="2" charset="0"/>
              </a:rPr>
              <a:t>	</a:t>
            </a:r>
          </a:p>
          <a:p>
            <a:pPr marL="144000" lvl="1" indent="0">
              <a:buNone/>
            </a:pPr>
            <a:r>
              <a:rPr lang="fr-FR" sz="1200" dirty="0">
                <a:solidFill>
                  <a:schemeClr val="tx1"/>
                </a:solidFill>
                <a:latin typeface="Montserrat" panose="00000500000000000000" pitchFamily="2" charset="0"/>
              </a:rPr>
              <a:t>Le modèle est :</a:t>
            </a:r>
          </a:p>
          <a:p>
            <a:pPr marL="315450" lvl="1" indent="-171450">
              <a:buFont typeface="Wingdings" panose="05000000000000000000" pitchFamily="2" charset="2"/>
              <a:buChar char="§"/>
            </a:pPr>
            <a:r>
              <a:rPr lang="fr-FR" dirty="0">
                <a:solidFill>
                  <a:schemeClr val="tx1"/>
                </a:solidFill>
                <a:latin typeface="Montserrat" panose="00000500000000000000" pitchFamily="2" charset="0"/>
              </a:rPr>
              <a:t>Interprétable (coefficients lisibles)</a:t>
            </a:r>
          </a:p>
          <a:p>
            <a:pPr marL="315450" lvl="1" indent="-171450">
              <a:buFont typeface="Wingdings" panose="05000000000000000000" pitchFamily="2" charset="2"/>
              <a:buChar char="§"/>
            </a:pPr>
            <a:r>
              <a:rPr lang="fr-FR" dirty="0">
                <a:solidFill>
                  <a:schemeClr val="tx1"/>
                </a:solidFill>
                <a:latin typeface="Montserrat" panose="00000500000000000000" pitchFamily="2" charset="0"/>
              </a:rPr>
              <a:t>Stable sur les données historiques</a:t>
            </a:r>
          </a:p>
          <a:p>
            <a:pPr marL="315450" lvl="1" indent="-171450">
              <a:buFont typeface="Wingdings" panose="05000000000000000000" pitchFamily="2" charset="2"/>
              <a:buChar char="§"/>
            </a:pPr>
            <a:r>
              <a:rPr lang="fr-FR" sz="1200" dirty="0">
                <a:solidFill>
                  <a:schemeClr val="tx1"/>
                </a:solidFill>
                <a:latin typeface="Montserrat" panose="00000500000000000000" pitchFamily="2" charset="0"/>
              </a:rPr>
              <a:t>Il fournit une estimation cohérente de la valeur du portefeuille à une date donnée.</a:t>
            </a:r>
            <a:endParaRPr lang="fr-FR" dirty="0">
              <a:solidFill>
                <a:schemeClr val="tx1"/>
              </a:solidFill>
              <a:latin typeface="Montserrat" panose="00000500000000000000" pitchFamily="2" charset="0"/>
            </a:endParaRPr>
          </a:p>
          <a:p>
            <a:pPr marL="315450" lvl="1" indent="-171450">
              <a:buFont typeface="Wingdings" panose="05000000000000000000" pitchFamily="2" charset="2"/>
              <a:buChar char="§"/>
            </a:pPr>
            <a:r>
              <a:rPr lang="fr-FR" sz="1200" dirty="0">
                <a:solidFill>
                  <a:schemeClr val="tx1"/>
                </a:solidFill>
                <a:latin typeface="Montserrat" panose="00000500000000000000" pitchFamily="2" charset="0"/>
              </a:rPr>
              <a:t>Le modèle constitue un outil d’aide à la décision fiable pour estimer rapidement la valeur d’un bien ou d’un portefeuille, mais ne remplace pas une expertise terrain.</a:t>
            </a:r>
          </a:p>
          <a:p>
            <a:pPr marL="146050" indent="0">
              <a:buNone/>
            </a:pPr>
            <a:endParaRPr lang="fr-FR" sz="1200" b="1" dirty="0">
              <a:solidFill>
                <a:schemeClr val="tx1"/>
              </a:solidFill>
              <a:latin typeface="Montserrat" panose="00000500000000000000" pitchFamily="2" charset="0"/>
            </a:endParaRPr>
          </a:p>
          <a:p>
            <a:pPr>
              <a:buFont typeface="Wingdings" panose="05000000000000000000" pitchFamily="2" charset="2"/>
              <a:buChar char="q"/>
            </a:pPr>
            <a:r>
              <a:rPr lang="fr-FR" sz="1400" b="1" dirty="0">
                <a:solidFill>
                  <a:schemeClr val="tx1"/>
                </a:solidFill>
                <a:latin typeface="Montserrat" panose="00000500000000000000" pitchFamily="2" charset="0"/>
              </a:rPr>
              <a:t>Classification des biens (K-</a:t>
            </a:r>
            <a:r>
              <a:rPr lang="fr-FR" sz="1400" b="1" dirty="0" err="1">
                <a:solidFill>
                  <a:schemeClr val="tx1"/>
                </a:solidFill>
                <a:latin typeface="Montserrat" panose="00000500000000000000" pitchFamily="2" charset="0"/>
              </a:rPr>
              <a:t>means</a:t>
            </a:r>
            <a:r>
              <a:rPr lang="fr-FR" sz="1400" b="1" dirty="0">
                <a:solidFill>
                  <a:schemeClr val="tx1"/>
                </a:solidFill>
                <a:latin typeface="Montserrat" panose="00000500000000000000" pitchFamily="2" charset="0"/>
              </a:rPr>
              <a:t>):</a:t>
            </a:r>
          </a:p>
          <a:p>
            <a:pPr marL="146050" indent="0">
              <a:buNone/>
            </a:pPr>
            <a:r>
              <a:rPr lang="fr-FR" sz="1200" dirty="0">
                <a:solidFill>
                  <a:schemeClr val="tx1"/>
                </a:solidFill>
                <a:latin typeface="Montserrat" panose="00000500000000000000" pitchFamily="2" charset="0"/>
              </a:rPr>
              <a:t>Le clustering K-</a:t>
            </a:r>
            <a:r>
              <a:rPr lang="fr-FR" sz="1200" dirty="0" err="1">
                <a:solidFill>
                  <a:schemeClr val="tx1"/>
                </a:solidFill>
                <a:latin typeface="Montserrat" panose="00000500000000000000" pitchFamily="2" charset="0"/>
              </a:rPr>
              <a:t>means</a:t>
            </a:r>
            <a:r>
              <a:rPr lang="fr-FR" sz="1200" dirty="0">
                <a:solidFill>
                  <a:schemeClr val="tx1"/>
                </a:solidFill>
                <a:latin typeface="Montserrat" panose="00000500000000000000" pitchFamily="2" charset="0"/>
              </a:rPr>
              <a:t> permet d’identifier :</a:t>
            </a:r>
          </a:p>
          <a:p>
            <a:pPr lvl="1">
              <a:buFont typeface="Wingdings" panose="05000000000000000000" pitchFamily="2" charset="2"/>
              <a:buChar char="ü"/>
            </a:pPr>
            <a:r>
              <a:rPr lang="fr-FR" dirty="0">
                <a:solidFill>
                  <a:schemeClr val="tx1"/>
                </a:solidFill>
                <a:latin typeface="Montserrat" panose="00000500000000000000" pitchFamily="2" charset="0"/>
              </a:rPr>
              <a:t>Des groupes homogènes de biens selon prix, surface et localisation.</a:t>
            </a:r>
          </a:p>
          <a:p>
            <a:pPr lvl="1">
              <a:buFont typeface="Wingdings" panose="05000000000000000000" pitchFamily="2" charset="2"/>
              <a:buChar char="ü"/>
            </a:pPr>
            <a:r>
              <a:rPr lang="fr-FR" dirty="0">
                <a:solidFill>
                  <a:schemeClr val="tx1"/>
                </a:solidFill>
                <a:latin typeface="Montserrat" panose="00000500000000000000" pitchFamily="2" charset="0"/>
              </a:rPr>
              <a:t>Des typologies exploitables (petits biens chers, grands biens périphériques, etc.).</a:t>
            </a:r>
          </a:p>
          <a:p>
            <a:pPr marL="146050" indent="0">
              <a:buNone/>
            </a:pPr>
            <a:r>
              <a:rPr lang="fr-FR" sz="1200" dirty="0">
                <a:solidFill>
                  <a:schemeClr val="tx1"/>
                </a:solidFill>
                <a:latin typeface="Montserrat" panose="00000500000000000000" pitchFamily="2" charset="0"/>
              </a:rPr>
              <a:t>La classification permet de pré-qualifier automatiquement les opportunités, réduisant le temps d’enquête des conseillers dès la réception d’un dossier.</a:t>
            </a:r>
          </a:p>
          <a:p>
            <a:pPr marL="146050" indent="0">
              <a:buNone/>
            </a:pPr>
            <a:endParaRPr lang="fr-FR" sz="1200" dirty="0">
              <a:solidFill>
                <a:schemeClr val="tx1"/>
              </a:solidFill>
              <a:latin typeface="Montserrat" panose="00000500000000000000" pitchFamily="2" charset="0"/>
            </a:endParaRPr>
          </a:p>
        </p:txBody>
      </p:sp>
      <p:sp>
        <p:nvSpPr>
          <p:cNvPr id="4" name="Google Shape;104;p16">
            <a:extLst>
              <a:ext uri="{FF2B5EF4-FFF2-40B4-BE49-F238E27FC236}">
                <a16:creationId xmlns:a16="http://schemas.microsoft.com/office/drawing/2014/main" id="{00454128-C8D3-D7DF-D872-15121FD8D212}"/>
              </a:ext>
            </a:extLst>
          </p:cNvPr>
          <p:cNvSpPr txBox="1">
            <a:spLocks/>
          </p:cNvSpPr>
          <p:nvPr/>
        </p:nvSpPr>
        <p:spPr>
          <a:xfrm>
            <a:off x="650869" y="360075"/>
            <a:ext cx="7688700" cy="535200"/>
          </a:xfrm>
          <a:prstGeom prst="rect">
            <a:avLst/>
          </a:prstGeom>
        </p:spPr>
        <p:txBody>
          <a:bodyPr spcFirstLastPara="1" vert="horz" wrap="square" lIns="91425" tIns="91425" rIns="91425" bIns="91425" rtlCol="0" anchor="t" anchorCtr="0">
            <a:normAutofit/>
          </a:bodyPr>
          <a:lstStyle>
            <a:lvl1pPr lvl="0" algn="l" defTabSz="342900" rtl="0" eaLnBrk="1" latinLnBrk="0" hangingPunct="1">
              <a:spcBef>
                <a:spcPts val="0"/>
              </a:spcBef>
              <a:spcAft>
                <a:spcPts val="0"/>
              </a:spcAft>
              <a:buSzPts val="2600"/>
              <a:buNone/>
              <a:defRPr sz="2600" kern="1200">
                <a:solidFill>
                  <a:schemeClr val="accent1"/>
                </a:solidFill>
                <a:latin typeface="+mj-lt"/>
                <a:ea typeface="+mj-ea"/>
                <a:cs typeface="+mj-cs"/>
              </a:defRPr>
            </a:lvl1pPr>
            <a:lvl2pPr lvl="1" eaLnBrk="1" hangingPunct="1">
              <a:spcBef>
                <a:spcPts val="0"/>
              </a:spcBef>
              <a:spcAft>
                <a:spcPts val="0"/>
              </a:spcAft>
              <a:buSzPts val="2600"/>
              <a:buNone/>
              <a:defRPr sz="2600">
                <a:solidFill>
                  <a:schemeClr val="tx2"/>
                </a:solidFill>
              </a:defRPr>
            </a:lvl2pPr>
            <a:lvl3pPr lvl="2" eaLnBrk="1" hangingPunct="1">
              <a:spcBef>
                <a:spcPts val="0"/>
              </a:spcBef>
              <a:spcAft>
                <a:spcPts val="0"/>
              </a:spcAft>
              <a:buSzPts val="2600"/>
              <a:buNone/>
              <a:defRPr sz="2600">
                <a:solidFill>
                  <a:schemeClr val="tx2"/>
                </a:solidFill>
              </a:defRPr>
            </a:lvl3pPr>
            <a:lvl4pPr lvl="3" eaLnBrk="1" hangingPunct="1">
              <a:spcBef>
                <a:spcPts val="0"/>
              </a:spcBef>
              <a:spcAft>
                <a:spcPts val="0"/>
              </a:spcAft>
              <a:buSzPts val="2600"/>
              <a:buNone/>
              <a:defRPr sz="2600">
                <a:solidFill>
                  <a:schemeClr val="tx2"/>
                </a:solidFill>
              </a:defRPr>
            </a:lvl4pPr>
            <a:lvl5pPr lvl="4" eaLnBrk="1" hangingPunct="1">
              <a:spcBef>
                <a:spcPts val="0"/>
              </a:spcBef>
              <a:spcAft>
                <a:spcPts val="0"/>
              </a:spcAft>
              <a:buSzPts val="2600"/>
              <a:buNone/>
              <a:defRPr sz="2600">
                <a:solidFill>
                  <a:schemeClr val="tx2"/>
                </a:solidFill>
              </a:defRPr>
            </a:lvl5pPr>
            <a:lvl6pPr lvl="5" eaLnBrk="1" hangingPunct="1">
              <a:spcBef>
                <a:spcPts val="0"/>
              </a:spcBef>
              <a:spcAft>
                <a:spcPts val="0"/>
              </a:spcAft>
              <a:buSzPts val="2600"/>
              <a:buNone/>
              <a:defRPr sz="2600">
                <a:solidFill>
                  <a:schemeClr val="tx2"/>
                </a:solidFill>
              </a:defRPr>
            </a:lvl6pPr>
            <a:lvl7pPr lvl="6" eaLnBrk="1" hangingPunct="1">
              <a:spcBef>
                <a:spcPts val="0"/>
              </a:spcBef>
              <a:spcAft>
                <a:spcPts val="0"/>
              </a:spcAft>
              <a:buSzPts val="2600"/>
              <a:buNone/>
              <a:defRPr sz="2600">
                <a:solidFill>
                  <a:schemeClr val="tx2"/>
                </a:solidFill>
              </a:defRPr>
            </a:lvl7pPr>
            <a:lvl8pPr lvl="7" eaLnBrk="1" hangingPunct="1">
              <a:spcBef>
                <a:spcPts val="0"/>
              </a:spcBef>
              <a:spcAft>
                <a:spcPts val="0"/>
              </a:spcAft>
              <a:buSzPts val="2600"/>
              <a:buNone/>
              <a:defRPr sz="2600">
                <a:solidFill>
                  <a:schemeClr val="tx2"/>
                </a:solidFill>
              </a:defRPr>
            </a:lvl8pPr>
            <a:lvl9pPr lvl="8" eaLnBrk="1" hangingPunct="1">
              <a:spcBef>
                <a:spcPts val="0"/>
              </a:spcBef>
              <a:spcAft>
                <a:spcPts val="0"/>
              </a:spcAft>
              <a:buSzPts val="2600"/>
              <a:buNone/>
              <a:defRPr sz="2600">
                <a:solidFill>
                  <a:schemeClr val="tx2"/>
                </a:solidFill>
              </a:defRPr>
            </a:lvl9pPr>
          </a:lstStyle>
          <a:p>
            <a:pPr>
              <a:buClr>
                <a:schemeClr val="dk1"/>
              </a:buClr>
              <a:buSzPct val="33333"/>
              <a:buFont typeface="Arial"/>
              <a:buNone/>
            </a:pPr>
            <a:r>
              <a:rPr lang="fr-FR" sz="2000" b="1" dirty="0">
                <a:solidFill>
                  <a:schemeClr val="accent2"/>
                </a:solidFill>
                <a:latin typeface="Montserrat" panose="00000500000000000000" pitchFamily="2" charset="0"/>
                <a:ea typeface="Montserrat"/>
                <a:cs typeface="Montserrat"/>
                <a:sym typeface="Montserrat"/>
              </a:rPr>
              <a:t>II. Méthodologie suivie </a:t>
            </a:r>
          </a:p>
          <a:p>
            <a:pPr>
              <a:buClr>
                <a:schemeClr val="dk1"/>
              </a:buClr>
              <a:buSzPct val="30555"/>
              <a:buFont typeface="Arial"/>
              <a:buNone/>
            </a:pPr>
            <a:endParaRPr lang="fr-FR" sz="2000" b="1" dirty="0">
              <a:solidFill>
                <a:schemeClr val="accent2"/>
              </a:solidFill>
              <a:latin typeface="Montserrat" panose="00000500000000000000" pitchFamily="2" charset="0"/>
            </a:endParaRPr>
          </a:p>
          <a:p>
            <a:pPr>
              <a:buClr>
                <a:schemeClr val="dk1"/>
              </a:buClr>
              <a:buSzPct val="30555"/>
              <a:buFont typeface="Arial"/>
              <a:buNone/>
            </a:pPr>
            <a:endParaRPr lang="fr-FR" sz="2000" b="1" dirty="0">
              <a:solidFill>
                <a:schemeClr val="accent2"/>
              </a:solidFill>
              <a:latin typeface="Montserrat" panose="00000500000000000000" pitchFamily="2" charset="0"/>
            </a:endParaRPr>
          </a:p>
          <a:p>
            <a:endParaRPr lang="fr-FR" sz="2000" b="1" dirty="0">
              <a:solidFill>
                <a:schemeClr val="accent2"/>
              </a:solidFill>
              <a:latin typeface="Montserrat" panose="00000500000000000000" pitchFamily="2" charset="0"/>
            </a:endParaRPr>
          </a:p>
        </p:txBody>
      </p:sp>
    </p:spTree>
    <p:extLst>
      <p:ext uri="{BB962C8B-B14F-4D97-AF65-F5344CB8AC3E}">
        <p14:creationId xmlns:p14="http://schemas.microsoft.com/office/powerpoint/2010/main" val="2816462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535268" y="229181"/>
            <a:ext cx="7688700" cy="535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fr" sz="2400" b="1" dirty="0">
                <a:solidFill>
                  <a:schemeClr val="accent2"/>
                </a:solidFill>
                <a:latin typeface="Montserrat" panose="00000500000000000000" pitchFamily="2" charset="0"/>
                <a:ea typeface="Montserrat"/>
                <a:cs typeface="Montserrat"/>
                <a:sym typeface="Montserrat"/>
              </a:rPr>
              <a:t>III. Résultats des prédictions</a:t>
            </a:r>
            <a:endParaRPr sz="2400" b="1" dirty="0">
              <a:solidFill>
                <a:schemeClr val="accent2"/>
              </a:solidFill>
              <a:latin typeface="Montserrat" panose="00000500000000000000" pitchFamily="2" charset="0"/>
              <a:ea typeface="Montserrat"/>
              <a:cs typeface="Montserrat"/>
              <a:sym typeface="Montserrat"/>
            </a:endParaRPr>
          </a:p>
          <a:p>
            <a:pPr marL="0" lvl="0" indent="0" rtl="0">
              <a:spcBef>
                <a:spcPts val="0"/>
              </a:spcBef>
              <a:spcAft>
                <a:spcPts val="0"/>
              </a:spcAft>
              <a:buNone/>
            </a:pPr>
            <a:endParaRPr sz="2400" b="1" dirty="0">
              <a:solidFill>
                <a:schemeClr val="accent2"/>
              </a:solidFill>
              <a:latin typeface="Montserrat" panose="00000500000000000000" pitchFamily="2" charset="0"/>
            </a:endParaRPr>
          </a:p>
          <a:p>
            <a:pPr marL="0" lvl="0" indent="0" rtl="0">
              <a:spcBef>
                <a:spcPts val="0"/>
              </a:spcBef>
              <a:spcAft>
                <a:spcPts val="0"/>
              </a:spcAft>
              <a:buNone/>
            </a:pPr>
            <a:endParaRPr sz="2400" b="1" dirty="0">
              <a:solidFill>
                <a:schemeClr val="accent2"/>
              </a:solidFill>
              <a:latin typeface="Montserrat" panose="00000500000000000000" pitchFamily="2" charset="0"/>
            </a:endParaRPr>
          </a:p>
          <a:p>
            <a:pPr marL="0" lvl="0" indent="0" rtl="0">
              <a:spcBef>
                <a:spcPts val="0"/>
              </a:spcBef>
              <a:spcAft>
                <a:spcPts val="0"/>
              </a:spcAft>
              <a:buNone/>
            </a:pPr>
            <a:endParaRPr sz="2400" b="1" dirty="0">
              <a:solidFill>
                <a:schemeClr val="accent2"/>
              </a:solidFill>
              <a:latin typeface="Montserrat" panose="00000500000000000000" pitchFamily="2" charset="0"/>
            </a:endParaRPr>
          </a:p>
        </p:txBody>
      </p:sp>
      <p:sp>
        <p:nvSpPr>
          <p:cNvPr id="111" name="Google Shape;111;p17"/>
          <p:cNvSpPr txBox="1">
            <a:spLocks noGrp="1"/>
          </p:cNvSpPr>
          <p:nvPr>
            <p:ph type="body" idx="1"/>
          </p:nvPr>
        </p:nvSpPr>
        <p:spPr>
          <a:xfrm>
            <a:off x="257963" y="975826"/>
            <a:ext cx="7257263" cy="3403293"/>
          </a:xfrm>
          <a:prstGeom prst="rect">
            <a:avLst/>
          </a:prstGeom>
        </p:spPr>
        <p:txBody>
          <a:bodyPr spcFirstLastPara="1" wrap="square" lIns="91425" tIns="91425" rIns="91425" bIns="91425" anchor="t" anchorCtr="0">
            <a:noAutofit/>
          </a:bodyPr>
          <a:lstStyle/>
          <a:p>
            <a:pPr marL="146050" indent="0" algn="ctr">
              <a:buNone/>
            </a:pPr>
            <a:r>
              <a:rPr lang="fr-FR" sz="1500" b="1" u="sng" dirty="0">
                <a:solidFill>
                  <a:schemeClr val="tx1"/>
                </a:solidFill>
                <a:latin typeface="Montserrat" panose="00000500000000000000" pitchFamily="2" charset="0"/>
              </a:rPr>
              <a:t>Valorisation du portefeuille immobilier au 31 décembre 2022:</a:t>
            </a:r>
          </a:p>
          <a:p>
            <a:pPr marL="146050" indent="0" algn="ctr">
              <a:buNone/>
            </a:pPr>
            <a:endParaRPr lang="fr-FR" sz="1500" b="1" dirty="0">
              <a:solidFill>
                <a:schemeClr val="tx1"/>
              </a:solidFill>
              <a:latin typeface="Montserrat" panose="00000500000000000000" pitchFamily="2" charset="0"/>
            </a:endParaRPr>
          </a:p>
          <a:p>
            <a:pPr>
              <a:buFont typeface="Wingdings" panose="05000000000000000000" pitchFamily="2" charset="2"/>
              <a:buChar char="q"/>
            </a:pPr>
            <a:endParaRPr lang="fr-FR" sz="1200" b="1" dirty="0">
              <a:solidFill>
                <a:schemeClr val="tx1"/>
              </a:solidFill>
              <a:latin typeface="Montserrat" panose="00000500000000000000" pitchFamily="2" charset="0"/>
            </a:endParaRPr>
          </a:p>
          <a:p>
            <a:pPr>
              <a:buFont typeface="Wingdings" panose="05000000000000000000" pitchFamily="2" charset="2"/>
              <a:buChar char="q"/>
            </a:pPr>
            <a:r>
              <a:rPr lang="fr-FR" sz="1200" dirty="0">
                <a:solidFill>
                  <a:schemeClr val="tx1"/>
                </a:solidFill>
                <a:latin typeface="Montserrat" panose="00000500000000000000" pitchFamily="2" charset="0"/>
              </a:rPr>
              <a:t>À partir des données historiques du marché parisien (2017–2021), nous avons développé un modèle de régression linéaire multivariée afin d’estimer la valorisation du portefeuille d’actifs immobiliers de l’entreprise au 31 décembre 2022.Le modèle intègre principalement :</a:t>
            </a:r>
          </a:p>
          <a:p>
            <a:pPr marL="936000">
              <a:buFont typeface="Wingdings" panose="05000000000000000000" pitchFamily="2" charset="2"/>
              <a:buChar char="ü"/>
            </a:pPr>
            <a:r>
              <a:rPr lang="fr-FR" sz="1200" dirty="0">
                <a:solidFill>
                  <a:schemeClr val="tx1"/>
                </a:solidFill>
                <a:latin typeface="Montserrat" panose="00000500000000000000" pitchFamily="2" charset="0"/>
              </a:rPr>
              <a:t>la surface du bien,</a:t>
            </a:r>
          </a:p>
          <a:p>
            <a:pPr marL="936000">
              <a:buFont typeface="Wingdings" panose="05000000000000000000" pitchFamily="2" charset="2"/>
              <a:buChar char="ü"/>
            </a:pPr>
            <a:r>
              <a:rPr lang="fr-FR" sz="1200" dirty="0">
                <a:solidFill>
                  <a:schemeClr val="tx1"/>
                </a:solidFill>
                <a:latin typeface="Montserrat" panose="00000500000000000000" pitchFamily="2" charset="0"/>
              </a:rPr>
              <a:t>la localisation (arrondissement),</a:t>
            </a:r>
          </a:p>
          <a:p>
            <a:pPr marL="936000">
              <a:buFont typeface="Wingdings" panose="05000000000000000000" pitchFamily="2" charset="2"/>
              <a:buChar char="ü"/>
            </a:pPr>
            <a:r>
              <a:rPr lang="fr-FR" sz="1200" dirty="0">
                <a:solidFill>
                  <a:schemeClr val="tx1"/>
                </a:solidFill>
                <a:latin typeface="Montserrat" panose="00000500000000000000" pitchFamily="2" charset="0"/>
              </a:rPr>
              <a:t>le type de bien,</a:t>
            </a:r>
          </a:p>
          <a:p>
            <a:pPr marL="936000">
              <a:buFont typeface="Wingdings" panose="05000000000000000000" pitchFamily="2" charset="2"/>
              <a:buChar char="ü"/>
            </a:pPr>
            <a:r>
              <a:rPr lang="fr-FR" sz="1200" dirty="0">
                <a:solidFill>
                  <a:schemeClr val="tx1"/>
                </a:solidFill>
                <a:latin typeface="Montserrat" panose="00000500000000000000" pitchFamily="2" charset="0"/>
              </a:rPr>
              <a:t>la dynamique temporelle des prix.</a:t>
            </a:r>
          </a:p>
          <a:p>
            <a:pPr marL="936000">
              <a:buFont typeface="Wingdings" panose="05000000000000000000" pitchFamily="2" charset="2"/>
              <a:buChar char="ü"/>
            </a:pPr>
            <a:endParaRPr lang="fr-FR" sz="1200" dirty="0">
              <a:solidFill>
                <a:schemeClr val="tx1"/>
              </a:solidFill>
              <a:latin typeface="Montserrat" panose="00000500000000000000" pitchFamily="2" charset="0"/>
            </a:endParaRPr>
          </a:p>
          <a:p>
            <a:pPr>
              <a:buFont typeface="Wingdings" panose="05000000000000000000" pitchFamily="2" charset="2"/>
              <a:buChar char="q"/>
            </a:pPr>
            <a:r>
              <a:rPr lang="fr-FR" sz="1200" dirty="0">
                <a:solidFill>
                  <a:schemeClr val="tx1"/>
                </a:solidFill>
                <a:latin typeface="Montserrat" panose="00000500000000000000" pitchFamily="2" charset="0"/>
              </a:rPr>
              <a:t>La valorisation prédite du portefeuille montre une augmentation globale par rapport aux années précédentes, cohérente avec la tendance haussière observée sur le marché parisien. Cette estimation fournit :</a:t>
            </a:r>
          </a:p>
          <a:p>
            <a:pPr marL="936000">
              <a:buFont typeface="Wingdings" panose="05000000000000000000" pitchFamily="2" charset="2"/>
              <a:buChar char="ü"/>
            </a:pPr>
            <a:r>
              <a:rPr lang="fr-FR" sz="1200" dirty="0">
                <a:solidFill>
                  <a:schemeClr val="tx1"/>
                </a:solidFill>
                <a:latin typeface="Montserrat" panose="00000500000000000000" pitchFamily="2" charset="0"/>
              </a:rPr>
              <a:t>une vision consolidée et homogène de la valeur du portefeuille,</a:t>
            </a:r>
          </a:p>
          <a:p>
            <a:pPr marL="936000">
              <a:buFont typeface="Wingdings" panose="05000000000000000000" pitchFamily="2" charset="2"/>
              <a:buChar char="ü"/>
            </a:pPr>
            <a:r>
              <a:rPr lang="fr-FR" sz="1200" dirty="0">
                <a:solidFill>
                  <a:schemeClr val="tx1"/>
                </a:solidFill>
                <a:latin typeface="Montserrat" panose="00000500000000000000" pitchFamily="2" charset="0"/>
              </a:rPr>
              <a:t>une base objective de comparaison entre actifs,</a:t>
            </a:r>
          </a:p>
          <a:p>
            <a:pPr marL="936000">
              <a:buFont typeface="Wingdings" panose="05000000000000000000" pitchFamily="2" charset="2"/>
              <a:buChar char="ü"/>
            </a:pPr>
            <a:r>
              <a:rPr lang="fr-FR" sz="1200" dirty="0">
                <a:solidFill>
                  <a:schemeClr val="tx1"/>
                </a:solidFill>
                <a:latin typeface="Montserrat" panose="00000500000000000000" pitchFamily="2" charset="0"/>
              </a:rPr>
              <a:t>un outil d’aide à la décision pour arbitrer achats, reventes ou priorisations.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646800-34EC-357C-93F3-92210BFF2773}"/>
              </a:ext>
            </a:extLst>
          </p:cNvPr>
          <p:cNvSpPr>
            <a:spLocks noGrp="1"/>
          </p:cNvSpPr>
          <p:nvPr>
            <p:ph type="title"/>
          </p:nvPr>
        </p:nvSpPr>
        <p:spPr>
          <a:xfrm>
            <a:off x="472275" y="479212"/>
            <a:ext cx="7688700" cy="535200"/>
          </a:xfrm>
        </p:spPr>
        <p:txBody>
          <a:bodyPr>
            <a:noAutofit/>
          </a:bodyPr>
          <a:lstStyle/>
          <a:p>
            <a:pPr lvl="0"/>
            <a:r>
              <a:rPr lang="fr-FR" sz="2400" b="1" dirty="0">
                <a:solidFill>
                  <a:schemeClr val="accent2"/>
                </a:solidFill>
                <a:ea typeface="Montserrat"/>
                <a:cs typeface="Montserrat"/>
                <a:sym typeface="Montserrat"/>
              </a:rPr>
              <a:t>III. Résultats des prédictions</a:t>
            </a:r>
            <a:br>
              <a:rPr lang="fr-FR" sz="2400" b="1" dirty="0">
                <a:solidFill>
                  <a:schemeClr val="accent2"/>
                </a:solidFill>
                <a:ea typeface="Montserrat"/>
                <a:cs typeface="Montserrat"/>
                <a:sym typeface="Montserrat"/>
              </a:rPr>
            </a:br>
            <a:br>
              <a:rPr lang="fr-FR" sz="2400" b="1" dirty="0">
                <a:solidFill>
                  <a:schemeClr val="accent2"/>
                </a:solidFill>
              </a:rPr>
            </a:br>
            <a:br>
              <a:rPr lang="fr-FR" sz="2400" b="1" dirty="0">
                <a:solidFill>
                  <a:schemeClr val="accent2"/>
                </a:solidFill>
              </a:rPr>
            </a:br>
            <a:endParaRPr lang="fr-FR" sz="2400" b="1" dirty="0">
              <a:solidFill>
                <a:schemeClr val="accent2"/>
              </a:solidFill>
            </a:endParaRPr>
          </a:p>
        </p:txBody>
      </p:sp>
      <p:sp>
        <p:nvSpPr>
          <p:cNvPr id="3" name="Espace réservé du texte 2">
            <a:extLst>
              <a:ext uri="{FF2B5EF4-FFF2-40B4-BE49-F238E27FC236}">
                <a16:creationId xmlns:a16="http://schemas.microsoft.com/office/drawing/2014/main" id="{85D8E250-7461-16C5-CBE3-71AD085B62EB}"/>
              </a:ext>
            </a:extLst>
          </p:cNvPr>
          <p:cNvSpPr>
            <a:spLocks noGrp="1"/>
          </p:cNvSpPr>
          <p:nvPr>
            <p:ph type="body" idx="1"/>
          </p:nvPr>
        </p:nvSpPr>
        <p:spPr>
          <a:xfrm>
            <a:off x="315113" y="1248317"/>
            <a:ext cx="6785775" cy="3095081"/>
          </a:xfrm>
        </p:spPr>
        <p:txBody>
          <a:bodyPr>
            <a:noAutofit/>
          </a:bodyPr>
          <a:lstStyle/>
          <a:p>
            <a:pPr marL="146050" indent="0">
              <a:buNone/>
            </a:pPr>
            <a:r>
              <a:rPr lang="fr-FR" sz="1200" dirty="0">
                <a:latin typeface="Montserrat" panose="00000500000000000000" pitchFamily="2" charset="0"/>
              </a:rPr>
              <a:t>Les résultats obtenus montrent que :</a:t>
            </a:r>
          </a:p>
          <a:p>
            <a:pPr marL="146050" indent="0">
              <a:buNone/>
            </a:pPr>
            <a:endParaRPr lang="fr-FR" sz="1200" dirty="0">
              <a:latin typeface="Montserrat" panose="00000500000000000000" pitchFamily="2" charset="0"/>
            </a:endParaRPr>
          </a:p>
          <a:p>
            <a:r>
              <a:rPr lang="fr-FR" sz="1200" dirty="0">
                <a:latin typeface="Montserrat" panose="00000500000000000000" pitchFamily="2" charset="0"/>
              </a:rPr>
              <a:t>La valeur estimée du </a:t>
            </a:r>
            <a:r>
              <a:rPr lang="fr-FR" sz="1200" b="1" dirty="0">
                <a:latin typeface="Montserrat" panose="00000500000000000000" pitchFamily="2" charset="0"/>
              </a:rPr>
              <a:t>segment particulier </a:t>
            </a:r>
            <a:r>
              <a:rPr lang="fr-FR" sz="1200" dirty="0">
                <a:latin typeface="Montserrat" panose="00000500000000000000" pitchFamily="2" charset="0"/>
              </a:rPr>
              <a:t>(Appartement) est de </a:t>
            </a:r>
            <a:r>
              <a:rPr lang="fr-FR" sz="1200" b="1" dirty="0">
                <a:latin typeface="Montserrat" panose="00000500000000000000" pitchFamily="2" charset="0"/>
              </a:rPr>
              <a:t>63,02 millions d’euros</a:t>
            </a:r>
            <a:r>
              <a:rPr lang="fr-FR" sz="1200" dirty="0">
                <a:latin typeface="Montserrat" panose="00000500000000000000" pitchFamily="2" charset="0"/>
              </a:rPr>
              <a:t> ;</a:t>
            </a:r>
          </a:p>
          <a:p>
            <a:pPr marL="146050" indent="0">
              <a:buNone/>
            </a:pPr>
            <a:endParaRPr lang="fr-FR" sz="1200" dirty="0">
              <a:latin typeface="Montserrat" panose="00000500000000000000" pitchFamily="2" charset="0"/>
            </a:endParaRPr>
          </a:p>
          <a:p>
            <a:r>
              <a:rPr lang="fr-FR" sz="1200" dirty="0">
                <a:latin typeface="Montserrat" panose="00000500000000000000" pitchFamily="2" charset="0"/>
              </a:rPr>
              <a:t>La valeur estimée du </a:t>
            </a:r>
            <a:r>
              <a:rPr lang="fr-FR" sz="1200" b="1" dirty="0">
                <a:latin typeface="Montserrat" panose="00000500000000000000" pitchFamily="2" charset="0"/>
              </a:rPr>
              <a:t>segment corporate </a:t>
            </a:r>
            <a:r>
              <a:rPr lang="fr-FR" sz="1200" dirty="0">
                <a:latin typeface="Montserrat" panose="00000500000000000000" pitchFamily="2" charset="0"/>
              </a:rPr>
              <a:t>(Local industriel, commercial ou assimilé ) est </a:t>
            </a:r>
            <a:r>
              <a:rPr lang="fr-FR" sz="1200">
                <a:latin typeface="Montserrat" panose="00000500000000000000" pitchFamily="2" charset="0"/>
              </a:rPr>
              <a:t>de </a:t>
            </a:r>
            <a:r>
              <a:rPr lang="fr-FR" sz="1200" b="1">
                <a:latin typeface="Montserrat" panose="00000500000000000000" pitchFamily="2" charset="0"/>
              </a:rPr>
              <a:t>91,92 </a:t>
            </a:r>
            <a:r>
              <a:rPr lang="fr-FR" sz="1200" b="1" dirty="0">
                <a:latin typeface="Montserrat" panose="00000500000000000000" pitchFamily="2" charset="0"/>
              </a:rPr>
              <a:t>millions d’euros</a:t>
            </a:r>
            <a:r>
              <a:rPr lang="fr-FR" sz="1200" dirty="0">
                <a:latin typeface="Montserrat" panose="00000500000000000000" pitchFamily="2" charset="0"/>
              </a:rPr>
              <a:t>.</a:t>
            </a:r>
          </a:p>
          <a:p>
            <a:endParaRPr lang="fr-FR" sz="1200" dirty="0">
              <a:latin typeface="Montserrat" panose="00000500000000000000" pitchFamily="2" charset="0"/>
            </a:endParaRPr>
          </a:p>
          <a:p>
            <a:r>
              <a:rPr lang="fr-FR" sz="1200" dirty="0">
                <a:latin typeface="Montserrat" panose="00000500000000000000" pitchFamily="2" charset="0"/>
              </a:rPr>
              <a:t>On observe que le segment corporate représente la part la plus importante de la valorisation totale du portefeuille. Cela signifie que, selon le modèle, les biens à usage professionnel contribuent davantage à la valeur globale du portefeuille que les biens destinés aux particuliers.</a:t>
            </a:r>
          </a:p>
          <a:p>
            <a:endParaRPr lang="fr-FR" sz="1200" dirty="0">
              <a:latin typeface="Montserrat" panose="00000500000000000000" pitchFamily="2" charset="0"/>
            </a:endParaRPr>
          </a:p>
          <a:p>
            <a:r>
              <a:rPr lang="fr-FR" sz="1200" dirty="0">
                <a:latin typeface="Montserrat" panose="00000500000000000000" pitchFamily="2" charset="0"/>
              </a:rPr>
              <a:t>Cette différence peut s’expliquer par des surfaces généralement plus importantes et par des valeurs unitaires plus élevées pour les biens du segment corporate, ce qui se traduit par une valorisation globale plus forte.</a:t>
            </a:r>
          </a:p>
          <a:p>
            <a:endParaRPr lang="fr-FR" sz="1200" dirty="0">
              <a:latin typeface="Montserrat" panose="00000500000000000000" pitchFamily="2" charset="0"/>
            </a:endParaRPr>
          </a:p>
          <a:p>
            <a:endParaRPr lang="fr-FR" sz="1200" dirty="0">
              <a:solidFill>
                <a:schemeClr val="tx1"/>
              </a:solidFill>
              <a:latin typeface="Montserrat" panose="00000500000000000000" pitchFamily="2" charset="0"/>
            </a:endParaRPr>
          </a:p>
        </p:txBody>
      </p:sp>
    </p:spTree>
    <p:extLst>
      <p:ext uri="{BB962C8B-B14F-4D97-AF65-F5344CB8AC3E}">
        <p14:creationId xmlns:p14="http://schemas.microsoft.com/office/powerpoint/2010/main" val="1356484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0CEADD-8CEC-2E19-1B47-BFABD4D6FE2A}"/>
              </a:ext>
            </a:extLst>
          </p:cNvPr>
          <p:cNvSpPr>
            <a:spLocks noGrp="1"/>
          </p:cNvSpPr>
          <p:nvPr>
            <p:ph type="title"/>
          </p:nvPr>
        </p:nvSpPr>
        <p:spPr>
          <a:xfrm>
            <a:off x="727650" y="332813"/>
            <a:ext cx="7688700" cy="535200"/>
          </a:xfrm>
        </p:spPr>
        <p:txBody>
          <a:bodyPr>
            <a:noAutofit/>
          </a:bodyPr>
          <a:lstStyle/>
          <a:p>
            <a:r>
              <a:rPr lang="fr-FR" sz="2000" b="1" dirty="0">
                <a:solidFill>
                  <a:schemeClr val="accent2"/>
                </a:solidFill>
                <a:latin typeface="Montserrat" panose="00000500000000000000" pitchFamily="2" charset="0"/>
                <a:ea typeface="Montserrat"/>
                <a:cs typeface="Montserrat"/>
                <a:sym typeface="Montserrat"/>
              </a:rPr>
              <a:t>VI.Les limites du projet</a:t>
            </a:r>
            <a:endParaRPr lang="fr-FR" sz="2000" b="1" dirty="0">
              <a:solidFill>
                <a:schemeClr val="accent2"/>
              </a:solidFill>
              <a:latin typeface="Montserrat" panose="00000500000000000000" pitchFamily="2" charset="0"/>
            </a:endParaRPr>
          </a:p>
        </p:txBody>
      </p:sp>
      <p:sp>
        <p:nvSpPr>
          <p:cNvPr id="3" name="Espace réservé du texte 2">
            <a:extLst>
              <a:ext uri="{FF2B5EF4-FFF2-40B4-BE49-F238E27FC236}">
                <a16:creationId xmlns:a16="http://schemas.microsoft.com/office/drawing/2014/main" id="{B0CE02B0-197D-4844-063F-F7589F85DF89}"/>
              </a:ext>
            </a:extLst>
          </p:cNvPr>
          <p:cNvSpPr>
            <a:spLocks noGrp="1"/>
          </p:cNvSpPr>
          <p:nvPr>
            <p:ph type="body" idx="1"/>
          </p:nvPr>
        </p:nvSpPr>
        <p:spPr>
          <a:xfrm>
            <a:off x="357976" y="996601"/>
            <a:ext cx="7321556" cy="3635493"/>
          </a:xfrm>
        </p:spPr>
        <p:txBody>
          <a:bodyPr>
            <a:noAutofit/>
          </a:bodyPr>
          <a:lstStyle/>
          <a:p>
            <a:pPr>
              <a:buFont typeface="Wingdings" panose="05000000000000000000" pitchFamily="2" charset="2"/>
              <a:buChar char="q"/>
            </a:pPr>
            <a:r>
              <a:rPr lang="fr-FR" sz="1400" b="1" dirty="0">
                <a:solidFill>
                  <a:schemeClr val="tx1"/>
                </a:solidFill>
                <a:latin typeface="Montserrat" panose="00000500000000000000" pitchFamily="2" charset="0"/>
              </a:rPr>
              <a:t>Limites liées aux données</a:t>
            </a:r>
            <a:r>
              <a:rPr lang="fr-FR" sz="1200" b="1" dirty="0">
                <a:solidFill>
                  <a:schemeClr val="tx1"/>
                </a:solidFill>
                <a:latin typeface="Montserrat" panose="00000500000000000000" pitchFamily="2" charset="0"/>
              </a:rPr>
              <a:t>:</a:t>
            </a:r>
          </a:p>
          <a:p>
            <a:pPr>
              <a:buFont typeface="Wingdings" panose="05000000000000000000" pitchFamily="2" charset="2"/>
              <a:buChar char="§"/>
            </a:pPr>
            <a:r>
              <a:rPr lang="fr-FR" sz="1200" dirty="0">
                <a:solidFill>
                  <a:schemeClr val="tx1"/>
                </a:solidFill>
                <a:latin typeface="Montserrat" panose="00000500000000000000" pitchFamily="2" charset="0"/>
              </a:rPr>
              <a:t>Données historiques → ne prédisent pas les chocs futurs (taux, réglementation, crise).</a:t>
            </a:r>
          </a:p>
          <a:p>
            <a:pPr>
              <a:buFont typeface="Wingdings" panose="05000000000000000000" pitchFamily="2" charset="2"/>
              <a:buChar char="§"/>
            </a:pPr>
            <a:r>
              <a:rPr lang="fr-FR" sz="1200" dirty="0">
                <a:solidFill>
                  <a:schemeClr val="tx1"/>
                </a:solidFill>
                <a:latin typeface="Montserrat" panose="00000500000000000000" pitchFamily="2" charset="0"/>
              </a:rPr>
              <a:t>Données incomplètes sur certains aspects clés :</a:t>
            </a:r>
          </a:p>
          <a:p>
            <a:pPr>
              <a:buFont typeface="Wingdings" panose="05000000000000000000" pitchFamily="2" charset="2"/>
              <a:buChar char="ü"/>
            </a:pPr>
            <a:r>
              <a:rPr lang="fr-FR" sz="1200" dirty="0">
                <a:solidFill>
                  <a:schemeClr val="tx1"/>
                </a:solidFill>
                <a:latin typeface="Montserrat" panose="00000500000000000000" pitchFamily="2" charset="0"/>
              </a:rPr>
              <a:t>État réel du bien</a:t>
            </a:r>
          </a:p>
          <a:p>
            <a:pPr>
              <a:buFont typeface="Wingdings" panose="05000000000000000000" pitchFamily="2" charset="2"/>
              <a:buChar char="ü"/>
            </a:pPr>
            <a:r>
              <a:rPr lang="fr-FR" sz="1200" dirty="0">
                <a:solidFill>
                  <a:schemeClr val="tx1"/>
                </a:solidFill>
                <a:latin typeface="Montserrat" panose="00000500000000000000" pitchFamily="2" charset="0"/>
              </a:rPr>
              <a:t>Travaux à prévoir</a:t>
            </a:r>
          </a:p>
          <a:p>
            <a:pPr>
              <a:buFont typeface="Wingdings" panose="05000000000000000000" pitchFamily="2" charset="2"/>
              <a:buChar char="ü"/>
            </a:pPr>
            <a:r>
              <a:rPr lang="fr-FR" sz="1200" dirty="0">
                <a:solidFill>
                  <a:schemeClr val="tx1"/>
                </a:solidFill>
                <a:latin typeface="Montserrat" panose="00000500000000000000" pitchFamily="2" charset="0"/>
              </a:rPr>
              <a:t>Usage exact (commercial, médical, habitation…)</a:t>
            </a:r>
          </a:p>
          <a:p>
            <a:pPr marL="146050" indent="0">
              <a:buNone/>
            </a:pPr>
            <a:endParaRPr lang="fr-FR" sz="1200" b="1" dirty="0">
              <a:solidFill>
                <a:schemeClr val="tx1"/>
              </a:solidFill>
              <a:latin typeface="Montserrat" panose="00000500000000000000" pitchFamily="2" charset="0"/>
            </a:endParaRPr>
          </a:p>
          <a:p>
            <a:pPr>
              <a:buFont typeface="Wingdings" panose="05000000000000000000" pitchFamily="2" charset="2"/>
              <a:buChar char="q"/>
            </a:pPr>
            <a:r>
              <a:rPr lang="fr-FR" sz="1400" b="1" dirty="0">
                <a:solidFill>
                  <a:schemeClr val="tx1"/>
                </a:solidFill>
                <a:latin typeface="Montserrat" panose="00000500000000000000" pitchFamily="2" charset="0"/>
              </a:rPr>
              <a:t>Limites de la régression linéaire:</a:t>
            </a:r>
          </a:p>
          <a:p>
            <a:pPr marL="0" lvl="0" indent="0" defTabSz="914400" eaLnBrk="0" fontAlgn="base" hangingPunct="0">
              <a:spcBef>
                <a:spcPct val="0"/>
              </a:spcBef>
              <a:spcAft>
                <a:spcPct val="0"/>
              </a:spcAft>
              <a:buClrTx/>
              <a:buSzTx/>
              <a:buNone/>
            </a:pPr>
            <a:r>
              <a:rPr lang="fr-FR" altLang="fr-FR" sz="1200" dirty="0">
                <a:solidFill>
                  <a:schemeClr val="tx1"/>
                </a:solidFill>
                <a:latin typeface="Montserrat" panose="00000500000000000000" pitchFamily="2" charset="0"/>
              </a:rPr>
              <a:t>La régression linéaire repose sur l’hypothèse de </a:t>
            </a:r>
            <a:r>
              <a:rPr lang="fr-FR" altLang="fr-FR" sz="1200" b="1" dirty="0">
                <a:solidFill>
                  <a:schemeClr val="tx1"/>
                </a:solidFill>
                <a:latin typeface="Montserrat" panose="00000500000000000000" pitchFamily="2" charset="0"/>
              </a:rPr>
              <a:t>relations linéaires</a:t>
            </a:r>
            <a:r>
              <a:rPr lang="fr-FR" altLang="fr-FR" sz="1200" dirty="0">
                <a:solidFill>
                  <a:schemeClr val="tx1"/>
                </a:solidFill>
                <a:latin typeface="Montserrat" panose="00000500000000000000" pitchFamily="2" charset="0"/>
              </a:rPr>
              <a:t> entre variables, ce qui simplifie la réalité du marché.</a:t>
            </a:r>
          </a:p>
          <a:p>
            <a:pPr marL="0" lvl="0" indent="0" defTabSz="914400" eaLnBrk="0" fontAlgn="base" hangingPunct="0">
              <a:spcBef>
                <a:spcPct val="0"/>
              </a:spcBef>
              <a:spcAft>
                <a:spcPct val="0"/>
              </a:spcAft>
              <a:buClrTx/>
              <a:buSzTx/>
              <a:buNone/>
            </a:pPr>
            <a:endParaRPr lang="fr-FR" altLang="fr-FR" sz="1200" dirty="0">
              <a:solidFill>
                <a:schemeClr val="tx1"/>
              </a:solidFill>
              <a:latin typeface="Montserrat" panose="00000500000000000000" pitchFamily="2" charset="0"/>
            </a:endParaRPr>
          </a:p>
          <a:p>
            <a:pPr marL="0" lvl="0" indent="0" defTabSz="914400" eaLnBrk="0" fontAlgn="base" hangingPunct="0">
              <a:spcBef>
                <a:spcPct val="0"/>
              </a:spcBef>
              <a:spcAft>
                <a:spcPct val="0"/>
              </a:spcAft>
              <a:buClrTx/>
              <a:buSzTx/>
              <a:buNone/>
            </a:pPr>
            <a:r>
              <a:rPr lang="fr-FR" altLang="fr-FR" sz="1200" dirty="0">
                <a:solidFill>
                  <a:schemeClr val="tx1"/>
                </a:solidFill>
                <a:latin typeface="Montserrat" panose="00000500000000000000" pitchFamily="2" charset="0"/>
              </a:rPr>
              <a:t>Le modèle est sensible :</a:t>
            </a:r>
          </a:p>
          <a:p>
            <a:pPr marL="171450" lvl="0" indent="-171450" defTabSz="914400" eaLnBrk="0" fontAlgn="base" hangingPunct="0">
              <a:spcBef>
                <a:spcPct val="0"/>
              </a:spcBef>
              <a:spcAft>
                <a:spcPct val="0"/>
              </a:spcAft>
              <a:buClrTx/>
              <a:buSzTx/>
              <a:buFont typeface="Wingdings" panose="05000000000000000000" pitchFamily="2" charset="2"/>
              <a:buChar char="ü"/>
            </a:pPr>
            <a:r>
              <a:rPr lang="fr-FR" altLang="fr-FR" sz="1200" dirty="0">
                <a:solidFill>
                  <a:schemeClr val="tx1"/>
                </a:solidFill>
                <a:latin typeface="Montserrat" panose="00000500000000000000" pitchFamily="2" charset="0"/>
              </a:rPr>
              <a:t>aux valeurs extrêmes,</a:t>
            </a:r>
          </a:p>
          <a:p>
            <a:pPr marL="171450" lvl="0" indent="-171450" defTabSz="914400" eaLnBrk="0" fontAlgn="base" hangingPunct="0">
              <a:spcBef>
                <a:spcPct val="0"/>
              </a:spcBef>
              <a:spcAft>
                <a:spcPct val="0"/>
              </a:spcAft>
              <a:buClrTx/>
              <a:buSzTx/>
              <a:buFont typeface="Wingdings" panose="05000000000000000000" pitchFamily="2" charset="2"/>
              <a:buChar char="ü"/>
            </a:pPr>
            <a:r>
              <a:rPr lang="fr-FR" altLang="fr-FR" sz="1200" dirty="0">
                <a:solidFill>
                  <a:schemeClr val="tx1"/>
                </a:solidFill>
                <a:latin typeface="Montserrat" panose="00000500000000000000" pitchFamily="2" charset="0"/>
              </a:rPr>
              <a:t>aux changements rapides de conjoncture (taux d’intérêt, réglementation, fiscalité).</a:t>
            </a:r>
          </a:p>
          <a:p>
            <a:pPr marL="171450" lvl="0" indent="-171450" defTabSz="914400" eaLnBrk="0" fontAlgn="base" hangingPunct="0">
              <a:spcBef>
                <a:spcPct val="0"/>
              </a:spcBef>
              <a:spcAft>
                <a:spcPct val="0"/>
              </a:spcAft>
              <a:buClrTx/>
              <a:buSzTx/>
              <a:buFont typeface="Wingdings" panose="05000000000000000000" pitchFamily="2" charset="2"/>
              <a:buChar char="ü"/>
            </a:pPr>
            <a:endParaRPr lang="fr-FR" altLang="fr-FR" sz="1200" dirty="0">
              <a:solidFill>
                <a:schemeClr val="tx1"/>
              </a:solidFill>
              <a:latin typeface="Montserrat" panose="00000500000000000000" pitchFamily="2" charset="0"/>
            </a:endParaRPr>
          </a:p>
          <a:p>
            <a:pPr marL="0" lvl="0" indent="0" defTabSz="914400" eaLnBrk="0" fontAlgn="base" hangingPunct="0">
              <a:spcBef>
                <a:spcPct val="0"/>
              </a:spcBef>
              <a:spcAft>
                <a:spcPct val="0"/>
              </a:spcAft>
              <a:buClrTx/>
              <a:buSzTx/>
              <a:buNone/>
            </a:pPr>
            <a:r>
              <a:rPr lang="fr-FR" altLang="fr-FR" sz="1200" dirty="0">
                <a:solidFill>
                  <a:schemeClr val="tx1"/>
                </a:solidFill>
                <a:latin typeface="Montserrat" panose="00000500000000000000" pitchFamily="2" charset="0"/>
              </a:rPr>
              <a:t>Il ne modélise pas :</a:t>
            </a:r>
          </a:p>
          <a:p>
            <a:pPr marL="171450" lvl="0" indent="-171450" defTabSz="914400" eaLnBrk="0" fontAlgn="base" hangingPunct="0">
              <a:spcBef>
                <a:spcPct val="0"/>
              </a:spcBef>
              <a:spcAft>
                <a:spcPct val="0"/>
              </a:spcAft>
              <a:buClrTx/>
              <a:buSzTx/>
              <a:buFont typeface="Wingdings" panose="05000000000000000000" pitchFamily="2" charset="2"/>
              <a:buChar char="ü"/>
            </a:pPr>
            <a:r>
              <a:rPr lang="fr-FR" altLang="fr-FR" sz="1200" dirty="0">
                <a:solidFill>
                  <a:schemeClr val="tx1"/>
                </a:solidFill>
                <a:latin typeface="Montserrat" panose="00000500000000000000" pitchFamily="2" charset="0"/>
              </a:rPr>
              <a:t>les effets de rareté extrême,</a:t>
            </a:r>
          </a:p>
          <a:p>
            <a:pPr marL="171450" lvl="0" indent="-171450" defTabSz="914400" eaLnBrk="0" fontAlgn="base" hangingPunct="0">
              <a:spcBef>
                <a:spcPct val="0"/>
              </a:spcBef>
              <a:spcAft>
                <a:spcPct val="0"/>
              </a:spcAft>
              <a:buClrTx/>
              <a:buSzTx/>
              <a:buFont typeface="Wingdings" panose="05000000000000000000" pitchFamily="2" charset="2"/>
              <a:buChar char="ü"/>
            </a:pPr>
            <a:r>
              <a:rPr lang="fr-FR" altLang="fr-FR" sz="1200" dirty="0">
                <a:solidFill>
                  <a:schemeClr val="tx1"/>
                </a:solidFill>
                <a:latin typeface="Montserrat" panose="00000500000000000000" pitchFamily="2" charset="0"/>
              </a:rPr>
              <a:t>les comportements spéculatifs.</a:t>
            </a:r>
          </a:p>
          <a:p>
            <a:pPr marL="0" lvl="0" indent="0" defTabSz="914400" eaLnBrk="0" fontAlgn="base" hangingPunct="0">
              <a:spcBef>
                <a:spcPct val="0"/>
              </a:spcBef>
              <a:spcAft>
                <a:spcPct val="0"/>
              </a:spcAft>
              <a:buClrTx/>
              <a:buSzTx/>
              <a:buNone/>
            </a:pPr>
            <a:endParaRPr lang="fr-FR" altLang="fr-FR" sz="1200" dirty="0">
              <a:solidFill>
                <a:schemeClr val="tx1"/>
              </a:solidFill>
              <a:latin typeface="Montserrat" panose="00000500000000000000" pitchFamily="2" charset="0"/>
            </a:endParaRPr>
          </a:p>
          <a:p>
            <a:pPr marL="146050" indent="0">
              <a:buNone/>
            </a:pPr>
            <a:br>
              <a:rPr lang="fr-FR" sz="1200" dirty="0">
                <a:solidFill>
                  <a:schemeClr val="tx1"/>
                </a:solidFill>
                <a:latin typeface="Montserrat" panose="00000500000000000000" pitchFamily="2" charset="0"/>
              </a:rPr>
            </a:br>
            <a:endParaRPr lang="fr-FR" sz="1200" dirty="0">
              <a:solidFill>
                <a:schemeClr val="tx1"/>
              </a:solidFill>
              <a:latin typeface="Montserrat" panose="00000500000000000000" pitchFamily="2" charset="0"/>
            </a:endParaRPr>
          </a:p>
          <a:p>
            <a:pPr marL="146050" indent="0">
              <a:buNone/>
            </a:pPr>
            <a:endParaRPr lang="fr-FR" sz="1200" dirty="0">
              <a:solidFill>
                <a:schemeClr val="tx1"/>
              </a:solidFill>
              <a:latin typeface="Montserrat" panose="00000500000000000000" pitchFamily="2" charset="0"/>
            </a:endParaRPr>
          </a:p>
        </p:txBody>
      </p:sp>
    </p:spTree>
    <p:extLst>
      <p:ext uri="{BB962C8B-B14F-4D97-AF65-F5344CB8AC3E}">
        <p14:creationId xmlns:p14="http://schemas.microsoft.com/office/powerpoint/2010/main" val="1082419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5625C77D-865B-0E63-D4A0-1EFDBDC46D50}"/>
              </a:ext>
            </a:extLst>
          </p:cNvPr>
          <p:cNvSpPr txBox="1">
            <a:spLocks/>
          </p:cNvSpPr>
          <p:nvPr/>
        </p:nvSpPr>
        <p:spPr>
          <a:xfrm>
            <a:off x="727650" y="539982"/>
            <a:ext cx="7688700" cy="535200"/>
          </a:xfrm>
          <a:prstGeom prst="rect">
            <a:avLst/>
          </a:prstGeom>
        </p:spPr>
        <p:txBody>
          <a:bodyPr spcFirstLastPara="1" vert="horz" wrap="square" lIns="91425" tIns="91425" rIns="91425" bIns="91425" rtlCol="0" anchor="t" anchorCtr="0">
            <a:noAutofit/>
          </a:bodyPr>
          <a:lstStyle>
            <a:lvl1pPr lvl="0" algn="l" defTabSz="342900" rtl="0" eaLnBrk="1" latinLnBrk="0" hangingPunct="1">
              <a:spcBef>
                <a:spcPts val="0"/>
              </a:spcBef>
              <a:spcAft>
                <a:spcPts val="0"/>
              </a:spcAft>
              <a:buSzPts val="2600"/>
              <a:buNone/>
              <a:defRPr sz="2600" kern="1200">
                <a:solidFill>
                  <a:schemeClr val="accent1"/>
                </a:solidFill>
                <a:latin typeface="+mj-lt"/>
                <a:ea typeface="+mj-ea"/>
                <a:cs typeface="+mj-cs"/>
              </a:defRPr>
            </a:lvl1pPr>
            <a:lvl2pPr lvl="1" eaLnBrk="1" hangingPunct="1">
              <a:spcBef>
                <a:spcPts val="0"/>
              </a:spcBef>
              <a:spcAft>
                <a:spcPts val="0"/>
              </a:spcAft>
              <a:buSzPts val="2600"/>
              <a:buNone/>
              <a:defRPr sz="2600">
                <a:solidFill>
                  <a:schemeClr val="tx2"/>
                </a:solidFill>
              </a:defRPr>
            </a:lvl2pPr>
            <a:lvl3pPr lvl="2" eaLnBrk="1" hangingPunct="1">
              <a:spcBef>
                <a:spcPts val="0"/>
              </a:spcBef>
              <a:spcAft>
                <a:spcPts val="0"/>
              </a:spcAft>
              <a:buSzPts val="2600"/>
              <a:buNone/>
              <a:defRPr sz="2600">
                <a:solidFill>
                  <a:schemeClr val="tx2"/>
                </a:solidFill>
              </a:defRPr>
            </a:lvl3pPr>
            <a:lvl4pPr lvl="3" eaLnBrk="1" hangingPunct="1">
              <a:spcBef>
                <a:spcPts val="0"/>
              </a:spcBef>
              <a:spcAft>
                <a:spcPts val="0"/>
              </a:spcAft>
              <a:buSzPts val="2600"/>
              <a:buNone/>
              <a:defRPr sz="2600">
                <a:solidFill>
                  <a:schemeClr val="tx2"/>
                </a:solidFill>
              </a:defRPr>
            </a:lvl4pPr>
            <a:lvl5pPr lvl="4" eaLnBrk="1" hangingPunct="1">
              <a:spcBef>
                <a:spcPts val="0"/>
              </a:spcBef>
              <a:spcAft>
                <a:spcPts val="0"/>
              </a:spcAft>
              <a:buSzPts val="2600"/>
              <a:buNone/>
              <a:defRPr sz="2600">
                <a:solidFill>
                  <a:schemeClr val="tx2"/>
                </a:solidFill>
              </a:defRPr>
            </a:lvl5pPr>
            <a:lvl6pPr lvl="5" eaLnBrk="1" hangingPunct="1">
              <a:spcBef>
                <a:spcPts val="0"/>
              </a:spcBef>
              <a:spcAft>
                <a:spcPts val="0"/>
              </a:spcAft>
              <a:buSzPts val="2600"/>
              <a:buNone/>
              <a:defRPr sz="2600">
                <a:solidFill>
                  <a:schemeClr val="tx2"/>
                </a:solidFill>
              </a:defRPr>
            </a:lvl6pPr>
            <a:lvl7pPr lvl="6" eaLnBrk="1" hangingPunct="1">
              <a:spcBef>
                <a:spcPts val="0"/>
              </a:spcBef>
              <a:spcAft>
                <a:spcPts val="0"/>
              </a:spcAft>
              <a:buSzPts val="2600"/>
              <a:buNone/>
              <a:defRPr sz="2600">
                <a:solidFill>
                  <a:schemeClr val="tx2"/>
                </a:solidFill>
              </a:defRPr>
            </a:lvl7pPr>
            <a:lvl8pPr lvl="7" eaLnBrk="1" hangingPunct="1">
              <a:spcBef>
                <a:spcPts val="0"/>
              </a:spcBef>
              <a:spcAft>
                <a:spcPts val="0"/>
              </a:spcAft>
              <a:buSzPts val="2600"/>
              <a:buNone/>
              <a:defRPr sz="2600">
                <a:solidFill>
                  <a:schemeClr val="tx2"/>
                </a:solidFill>
              </a:defRPr>
            </a:lvl8pPr>
            <a:lvl9pPr lvl="8" eaLnBrk="1" hangingPunct="1">
              <a:spcBef>
                <a:spcPts val="0"/>
              </a:spcBef>
              <a:spcAft>
                <a:spcPts val="0"/>
              </a:spcAft>
              <a:buSzPts val="2600"/>
              <a:buNone/>
              <a:defRPr sz="2600">
                <a:solidFill>
                  <a:schemeClr val="tx2"/>
                </a:solidFill>
              </a:defRPr>
            </a:lvl9pPr>
          </a:lstStyle>
          <a:p>
            <a:r>
              <a:rPr lang="fr-FR" sz="2400" b="1" dirty="0">
                <a:solidFill>
                  <a:schemeClr val="accent2"/>
                </a:solidFill>
                <a:latin typeface="Montserrat" panose="00000500000000000000" pitchFamily="2" charset="0"/>
                <a:ea typeface="Montserrat"/>
                <a:cs typeface="Montserrat"/>
                <a:sym typeface="Montserrat"/>
              </a:rPr>
              <a:t>V. P</a:t>
            </a:r>
            <a:r>
              <a:rPr lang="fr-FR" sz="2400" b="1" dirty="0">
                <a:solidFill>
                  <a:schemeClr val="accent2"/>
                </a:solidFill>
                <a:latin typeface="Montserrat" panose="00000500000000000000" pitchFamily="2" charset="0"/>
              </a:rPr>
              <a:t>récautions à prendre</a:t>
            </a:r>
          </a:p>
        </p:txBody>
      </p:sp>
      <p:sp>
        <p:nvSpPr>
          <p:cNvPr id="9" name="ZoneTexte 8">
            <a:extLst>
              <a:ext uri="{FF2B5EF4-FFF2-40B4-BE49-F238E27FC236}">
                <a16:creationId xmlns:a16="http://schemas.microsoft.com/office/drawing/2014/main" id="{028F1211-7979-DC5B-B7CA-6B22BE048C6D}"/>
              </a:ext>
            </a:extLst>
          </p:cNvPr>
          <p:cNvSpPr txBox="1"/>
          <p:nvPr/>
        </p:nvSpPr>
        <p:spPr>
          <a:xfrm>
            <a:off x="557212" y="1687890"/>
            <a:ext cx="6793706" cy="2292935"/>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fr-FR" altLang="fr-FR" sz="1300" i="0" u="none" strike="noStrike" cap="none" normalizeH="0" baseline="0" dirty="0">
                <a:ln>
                  <a:noFill/>
                </a:ln>
                <a:effectLst/>
                <a:latin typeface="Montserrat" panose="00000500000000000000" pitchFamily="2" charset="0"/>
              </a:rPr>
              <a:t>Les résultats doivent être utilisés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fr-FR" altLang="fr-FR" sz="1300" i="0" u="none" strike="noStrike" cap="none" normalizeH="0" baseline="0" dirty="0">
                <a:ln>
                  <a:noFill/>
                </a:ln>
                <a:effectLst/>
                <a:latin typeface="Montserrat" panose="00000500000000000000" pitchFamily="2" charset="0"/>
              </a:rPr>
              <a:t>comme indicateurs d’ordre de grandeur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fr-FR" altLang="fr-FR" sz="1300" i="0" u="none" strike="noStrike" cap="none" normalizeH="0" baseline="0" dirty="0">
                <a:ln>
                  <a:noFill/>
                </a:ln>
                <a:effectLst/>
                <a:latin typeface="Montserrat" panose="00000500000000000000" pitchFamily="2" charset="0"/>
              </a:rPr>
              <a:t>et non comme des prix de vente définitifs</a:t>
            </a:r>
          </a:p>
          <a:p>
            <a:pPr marL="0" marR="0" lvl="0" indent="0" algn="l" defTabSz="914400" rtl="0" eaLnBrk="0" fontAlgn="base" latinLnBrk="0" hangingPunct="0">
              <a:lnSpc>
                <a:spcPct val="100000"/>
              </a:lnSpc>
              <a:spcBef>
                <a:spcPct val="0"/>
              </a:spcBef>
              <a:spcAft>
                <a:spcPct val="0"/>
              </a:spcAft>
              <a:buClrTx/>
              <a:buSzTx/>
              <a:tabLst/>
            </a:pPr>
            <a:endParaRPr kumimoji="0" lang="fr-FR" altLang="fr-FR" sz="1300" i="0" u="none" strike="noStrike" cap="none" normalizeH="0" baseline="0" dirty="0">
              <a:ln>
                <a:noFill/>
              </a:ln>
              <a:effectLst/>
              <a:latin typeface="Montserrat"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fr-FR" altLang="fr-FR" sz="1300" i="0" u="none" strike="noStrike" cap="none" normalizeH="0" baseline="0" dirty="0">
                <a:ln>
                  <a:noFill/>
                </a:ln>
                <a:effectLst/>
                <a:latin typeface="Montserrat" panose="00000500000000000000" pitchFamily="2" charset="0"/>
              </a:rPr>
              <a:t>Une mise à jour régulière du modèle est indispensable pour conserver sa pertinence.</a:t>
            </a:r>
          </a:p>
          <a:p>
            <a:pPr marR="0" lvl="0" algn="l" defTabSz="914400" rtl="0" eaLnBrk="0" fontAlgn="base" latinLnBrk="0" hangingPunct="0">
              <a:lnSpc>
                <a:spcPct val="100000"/>
              </a:lnSpc>
              <a:spcBef>
                <a:spcPct val="0"/>
              </a:spcBef>
              <a:spcAft>
                <a:spcPct val="0"/>
              </a:spcAft>
              <a:buClrTx/>
              <a:buSzTx/>
              <a:tabLst/>
            </a:pPr>
            <a:endParaRPr kumimoji="0" lang="fr-FR" altLang="fr-FR" sz="1300" i="0" u="none" strike="noStrike" cap="none" normalizeH="0" baseline="0" dirty="0">
              <a:ln>
                <a:noFill/>
              </a:ln>
              <a:effectLst/>
              <a:latin typeface="Montserrat"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fr-FR" altLang="fr-FR" sz="1300" i="0" u="none" strike="noStrike" cap="none" normalizeH="0" baseline="0" dirty="0">
                <a:ln>
                  <a:noFill/>
                </a:ln>
                <a:effectLst/>
                <a:latin typeface="Montserrat" panose="00000500000000000000" pitchFamily="2" charset="0"/>
              </a:rPr>
              <a:t>L’outil doit être combiné avec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fr-FR" altLang="fr-FR" sz="1300" i="0" u="none" strike="noStrike" cap="none" normalizeH="0" baseline="0" dirty="0">
                <a:ln>
                  <a:noFill/>
                </a:ln>
                <a:effectLst/>
                <a:latin typeface="Montserrat" panose="00000500000000000000" pitchFamily="2" charset="0"/>
              </a:rPr>
              <a:t>l’expertise des équipes terrain,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fr-FR" altLang="fr-FR" sz="1300" i="0" u="none" strike="noStrike" cap="none" normalizeH="0" baseline="0" dirty="0">
                <a:ln>
                  <a:noFill/>
                </a:ln>
                <a:effectLst/>
                <a:latin typeface="Montserrat" panose="00000500000000000000" pitchFamily="2" charset="0"/>
              </a:rPr>
              <a:t>une analyse qualitative des dossiers prioritaires.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300" i="0" u="none" strike="noStrike" cap="none" normalizeH="0" baseline="0" dirty="0">
              <a:ln>
                <a:noFill/>
              </a:ln>
              <a:effectLst/>
              <a:latin typeface="Montserrat" panose="00000500000000000000" pitchFamily="2" charset="0"/>
            </a:endParaRPr>
          </a:p>
        </p:txBody>
      </p:sp>
    </p:spTree>
    <p:extLst>
      <p:ext uri="{BB962C8B-B14F-4D97-AF65-F5344CB8AC3E}">
        <p14:creationId xmlns:p14="http://schemas.microsoft.com/office/powerpoint/2010/main" val="1791851423"/>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36</TotalTime>
  <Words>1131</Words>
  <Application>Microsoft Office PowerPoint</Application>
  <PresentationFormat>Affichage à l'écran (16:9)</PresentationFormat>
  <Paragraphs>144</Paragraphs>
  <Slides>11</Slides>
  <Notes>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Arial</vt:lpstr>
      <vt:lpstr>Montserrat</vt:lpstr>
      <vt:lpstr>Wingdings 3</vt:lpstr>
      <vt:lpstr>Wingdings</vt:lpstr>
      <vt:lpstr>Trebuchet MS</vt:lpstr>
      <vt:lpstr>Facette</vt:lpstr>
      <vt:lpstr>Présentation PowerPoint</vt:lpstr>
      <vt:lpstr>Analyse du marché immobilier parisien (2017–2021)</vt:lpstr>
      <vt:lpstr>Analyse du marché immobilier parisien (2017–2021)</vt:lpstr>
      <vt:lpstr>Analyse du marché immobilier parisien (2017–2021)</vt:lpstr>
      <vt:lpstr>Analyse du marché immobilier parisien (2017–2021)</vt:lpstr>
      <vt:lpstr>II. Méthodologie suivie    </vt:lpstr>
      <vt:lpstr>Présentation PowerPoint</vt:lpstr>
      <vt:lpstr>III. Résultats des prédictions   </vt:lpstr>
      <vt:lpstr>III. Résultats des prédictions   </vt:lpstr>
      <vt:lpstr>VI.Les limites du projet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Utilisateur</cp:lastModifiedBy>
  <cp:revision>6</cp:revision>
  <dcterms:modified xsi:type="dcterms:W3CDTF">2026-02-07T21:10:13Z</dcterms:modified>
</cp:coreProperties>
</file>